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F2A2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200" b="0" i="0" u="none" strike="noStrike">
                <a:solidFill>
                  <a:srgbClr val="0F2A20"/>
                </a:solidFill>
                <a:latin typeface="Arial" panose="020B0604020202020204"/>
              </a:rPr>
              <a:t>App Downloads (Millions, Google Play)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Downloads (Millions)</c:v>
                </c:pt>
              </c:strCache>
            </c:strRef>
          </c:tx>
          <c:spPr>
            <a:solidFill>
              <a:srgbClr val="129E6B"/>
            </a:solidFill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E00-4CDC-8200-7EB5CD4446C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6E00-4CDC-8200-7EB5CD4446C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0F2A2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HealthifyMe</c:v>
                </c:pt>
                <c:pt idx="1">
                  <c:v>Cult.fit</c:v>
                </c:pt>
                <c:pt idx="2">
                  <c:v>Fittr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10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00-4CDC-8200-7EB5CD4446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C7A7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1EF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C7A7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978769bf-b795-4355-824c-808c6442da51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F2A2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200" b="0" i="0" u="none" strike="noStrike">
                <a:solidFill>
                  <a:srgbClr val="0F2A20"/>
                </a:solidFill>
                <a:latin typeface="Arial" panose="020B0604020202020204"/>
              </a:rPr>
              <a:t>Google Play Rating (out of 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 Store Rating</c:v>
                </c:pt>
              </c:strCache>
            </c:strRef>
          </c:tx>
          <c:spPr>
            <a:solidFill>
              <a:srgbClr val="43D598"/>
            </a:solidFill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49-465C-BA46-218BFCD6F4A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2F49-465C-BA46-218BFCD6F4A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0F2A2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HealthifyMe</c:v>
                </c:pt>
                <c:pt idx="1">
                  <c:v>Cult.fit</c:v>
                </c:pt>
                <c:pt idx="2">
                  <c:v>Fittr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4.5</c:v>
                </c:pt>
                <c:pt idx="2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49-465C-BA46-218BFCD6F4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C7A7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 cmpd="sng" algn="ctr">
              <a:solidFill>
                <a:srgbClr val="E1EF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C7A7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db868b35-742b-48c8-ad9e-3670b198fdad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50" b="0" i="0" u="none" strike="noStrike" kern="1200" baseline="0">
                <a:solidFill>
                  <a:srgbClr val="0F2A2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IN" sz="1150" b="0" i="0" u="none" strike="noStrike">
                <a:solidFill>
                  <a:srgbClr val="0F2A20"/>
                </a:solidFill>
                <a:latin typeface="Arial" panose="020B0604020202020204"/>
              </a:rPr>
              <a:t>Revenue Trend, India Entity (₹ Cr)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29E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0F2A2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228.7</c:v>
                </c:pt>
                <c:pt idx="1">
                  <c:v>206.3</c:v>
                </c:pt>
                <c:pt idx="2">
                  <c:v>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2-4789-B1F4-C2313D8189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C7A7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1EF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C7A7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6aaca993-2f72-4b10-9cef-1e836de01238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6035040" cy="6035040"/>
          </a:xfrm>
          <a:prstGeom prst="ellipse">
            <a:avLst/>
          </a:prstGeom>
          <a:solidFill>
            <a:srgbClr val="129E6B"/>
          </a:solidFill>
        </p:spPr>
      </p:sp>
      <p:sp>
        <p:nvSpPr>
          <p:cNvPr id="3" name="Shape 1"/>
          <p:cNvSpPr/>
          <p:nvPr/>
        </p:nvSpPr>
        <p:spPr>
          <a:xfrm>
            <a:off x="10561320" y="2993366"/>
            <a:ext cx="3931920" cy="3931920"/>
          </a:xfrm>
          <a:prstGeom prst="ellipse">
            <a:avLst/>
          </a:prstGeom>
          <a:solidFill>
            <a:srgbClr val="43D598"/>
          </a:solidFill>
        </p:spPr>
      </p:sp>
      <p:sp>
        <p:nvSpPr>
          <p:cNvPr id="4" name="Shape 2"/>
          <p:cNvSpPr/>
          <p:nvPr/>
        </p:nvSpPr>
        <p:spPr>
          <a:xfrm>
            <a:off x="6858000" y="914400"/>
            <a:ext cx="3291840" cy="3291840"/>
          </a:xfrm>
          <a:prstGeom prst="ellipse">
            <a:avLst/>
          </a:prstGeom>
          <a:solidFill>
            <a:srgbClr val="129E6B"/>
          </a:solidFill>
        </p:spPr>
      </p:sp>
      <p:sp>
        <p:nvSpPr>
          <p:cNvPr id="5" name="Shape 3"/>
          <p:cNvSpPr/>
          <p:nvPr/>
        </p:nvSpPr>
        <p:spPr>
          <a:xfrm>
            <a:off x="640080" y="64008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43D598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64008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2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CASE STUDY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8686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HealthifyMe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3D59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Strategy Report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Qualitative &amp; Quantitative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9921240" cy="45720"/>
          </a:xfrm>
          <a:prstGeom prst="line">
            <a:avLst/>
          </a:prstGeom>
          <a:noFill/>
          <a:ln w="12700">
            <a:solidFill>
              <a:srgbClr val="1F5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12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Domain: HealthTech – Fitness &amp; Wellness  |   Market: India   |   Analysis: 2025–26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by  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 Surya Prakash V</a:t>
            </a:r>
            <a:r>
              <a:rPr lang="en-US" sz="1150" dirty="0">
                <a:solidFill>
                  <a:srgbClr val="8FB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150" dirty="0"/>
          </a:p>
        </p:txBody>
      </p:sp>
      <p:pic>
        <p:nvPicPr>
          <p:cNvPr id="13" name="Picture 12" descr="Healthify India (@healthifyme) • Instagram photos and vide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797" y="1645138"/>
            <a:ext cx="1921803" cy="19218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 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Company 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6492240" cy="5257800"/>
          </a:xfrm>
          <a:prstGeom prst="roundRect">
            <a:avLst>
              <a:gd name="adj" fmla="val 1217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716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📅  Founded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1371600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 Founders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2148840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Tushar Vashisht, Mathew Cherian &amp; Sachin Shenoy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📍  HQ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926080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Bengaluru, Karnataka, India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 Domain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3703320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HealthTech / FitTech (Nutrition &amp; Wellness)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4805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📈  Total Funding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4480560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$145M+ across Series C (Khosla Ventures, LeapFrog)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5257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  Reach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5257800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40M+ registered users across India &amp; international markets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78040" y="1051560"/>
            <a:ext cx="4572000" cy="5257800"/>
          </a:xfrm>
          <a:prstGeom prst="roundRect">
            <a:avLst>
              <a:gd name="adj" fmla="val 1400"/>
            </a:avLst>
          </a:prstGeom>
          <a:solidFill>
            <a:srgbClr val="0F2A20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28016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3D59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It's Growing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52360" y="1783080"/>
            <a:ext cx="402336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India's 40M+ health-conscious digital users and rising smartphone penetration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Post-pandemic surge in personal wellness &amp; preventive-health awareness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Demand for AI-personalized coaching (Ria, the AI nutritionist)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GLP-1 / weight-management drug era (Ozempic, Mounjaro) boosting demand for structured coaching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Corporate wellness (B2B2C) budgets expanding across Indian employers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India's digital fitness &amp; wellness market growing at ~17–19% CAGR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 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Model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Revenue Streams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Premium Subscriptions
</a:t>
            </a:r>
            <a:r>
              <a:rPr lang="en-US" sz="11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~70–80% of revenue • ₹999–₹1,699/month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 Coaching Plans
</a:t>
            </a:r>
            <a:r>
              <a:rPr lang="en-US" sz="11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3/6/12-month transformation programs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Corporate Wellness (B2B2C)
</a:t>
            </a:r>
            <a:r>
              <a:rPr lang="en-US" sz="11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Per-employee wellness contracts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46704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328416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Devices &amp; In-app Purchases
</a:t>
            </a:r>
            <a:r>
              <a:rPr lang="en-US" sz="11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Scales, CGMs, add-on diet programs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68496"/>
            <a:ext cx="320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950208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Affiliate Partnerships
</a:t>
            </a:r>
            <a:r>
              <a:rPr lang="en-US" sz="11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Commission on supplements &amp; wearables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Cost Drivers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074920"/>
            <a:ext cx="57607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Nutritionist &amp; coach salaries (2,000+ certified professionals)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AI/ML infrastructure — Ria coach, food-recognition compute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acquisition &amp; performance marketing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 manufacturing &amp; logistics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1051560"/>
            <a:ext cx="539496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2344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Value Delivered to Customers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164592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Personalized, India-specific diet plans — not generic Western advice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convenience (instant photo logging) + human accountability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Measurable outcomes — sustained weight loss &amp; habit change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platform for tracking, coaching, community &amp; corporate benefits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3749040"/>
            <a:ext cx="5394960" cy="2560320"/>
          </a:xfrm>
          <a:prstGeom prst="roundRect">
            <a:avLst>
              <a:gd name="adj" fmla="val 2500"/>
            </a:avLst>
          </a:prstGeom>
          <a:solidFill>
            <a:srgbClr val="0F2A20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9319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D59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the Model Works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434340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Freemium funnel converts free trackers into paid, high-LTV subscribers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Ria AI resolves the majority of user queries autonomously, lowering coaching cost-to-serve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Diversified across B2C, B2B2C and device revenue reduces single-channel risk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 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Unique Selling Proposition (USP)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675888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99032"/>
            <a:ext cx="548640" cy="54864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6" name="Text 4"/>
          <p:cNvSpPr/>
          <p:nvPr/>
        </p:nvSpPr>
        <p:spPr>
          <a:xfrm>
            <a:off x="713232" y="13990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103120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Largest Indian Food Database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2679192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World's most complete Indian &amp; regional-dish calorie database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07408" y="1143000"/>
            <a:ext cx="3675888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99032"/>
            <a:ext cx="548640" cy="54864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11" name="Text 9"/>
          <p:cNvSpPr/>
          <p:nvPr/>
        </p:nvSpPr>
        <p:spPr>
          <a:xfrm>
            <a:off x="4663440" y="13990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Ria — AI Nutritionist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440" y="2679192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Generative-AI coach; ~90% photo food-recognition accuracy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357616" y="1143000"/>
            <a:ext cx="3675888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13648" y="1399032"/>
            <a:ext cx="548640" cy="54864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16" name="Text 14"/>
          <p:cNvSpPr/>
          <p:nvPr/>
        </p:nvSpPr>
        <p:spPr>
          <a:xfrm>
            <a:off x="8613648" y="13990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🤝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613648" y="2103120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+ Human Hybrid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13648" y="2679192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2,000+ certified coaches blended with algorithmic tracking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3675888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142232"/>
            <a:ext cx="548640" cy="54864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21" name="Text 19"/>
          <p:cNvSpPr/>
          <p:nvPr/>
        </p:nvSpPr>
        <p:spPr>
          <a:xfrm>
            <a:off x="713232" y="41422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3232" y="4846320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“Healthify a Billion” Brand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3232" y="5422392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Outcome-led mission and visible transformation stories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407408" y="3886200"/>
            <a:ext cx="3675888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4142232"/>
            <a:ext cx="548640" cy="54864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26" name="Text 24"/>
          <p:cNvSpPr/>
          <p:nvPr/>
        </p:nvSpPr>
        <p:spPr>
          <a:xfrm>
            <a:off x="4663440" y="41422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663440" y="4846320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Studio &amp; Smart Devices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63440" y="5422392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workouts plus scales &amp; body-composition trackers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357616" y="3886200"/>
            <a:ext cx="3675888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13648" y="4142232"/>
            <a:ext cx="548640" cy="54864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31" name="Text 29"/>
          <p:cNvSpPr/>
          <p:nvPr/>
        </p:nvSpPr>
        <p:spPr>
          <a:xfrm>
            <a:off x="8613648" y="41422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⭐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613648" y="4846320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Clinically-Trusted Results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613648" y="5422392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MARS-rated 4.45/5 in peer-reviewed diabetes-app research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 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Market Gap &amp; Customer Need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611880" cy="502920"/>
          </a:xfrm>
          <a:prstGeom prst="roundRect">
            <a:avLst>
              <a:gd name="adj" fmla="val 12727"/>
            </a:avLst>
          </a:prstGeom>
          <a:solidFill>
            <a:srgbClr val="0F2A20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Before HealthifyMe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88536" y="1143000"/>
            <a:ext cx="3611880" cy="502920"/>
          </a:xfrm>
          <a:prstGeom prst="roundRect">
            <a:avLst>
              <a:gd name="adj" fmla="val 12727"/>
            </a:avLst>
          </a:prstGeom>
          <a:solidFill>
            <a:srgbClr val="129E6B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88536" y="11430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HealthifyMe's Solution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19872" y="1143000"/>
            <a:ext cx="3611880" cy="502920"/>
          </a:xfrm>
          <a:prstGeom prst="roundRect">
            <a:avLst>
              <a:gd name="adj" fmla="val 12727"/>
            </a:avLst>
          </a:prstGeom>
          <a:solidFill>
            <a:srgbClr val="43D598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19872" y="114300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Customer Benefit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737360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64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No reliable, localized nutrition data for Indian meals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288536" y="1737360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737360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India-first food database with regional dishes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119872" y="1737360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1737360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 Time saved, accurate logging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5FBF8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578608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64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Generic, one-size-fits-all fitness advice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288536" y="2578608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5FBF8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3128" y="2578608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AI + human coaching personalized to goals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8119872" y="2578608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5FBF8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4464" y="2578608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 Better outcomes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57200" y="3419856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419856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64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No accountability once a plan was handed over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288536" y="3419856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3128" y="3419856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Continuous tracking with real coach check-ins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119872" y="3419856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3419856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 Real accountability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457200" y="4261104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5FBF8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261104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64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Gym-based fitness excluded time/budget-constrained users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4288536" y="4261104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5FBF8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53128" y="4261104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Fully mobile, anywhere access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119872" y="4261104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5FBF8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4261104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 Flexibility &amp; access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457200" y="5102352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5102352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64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No structured support for medical goals (diabetes, PCOS)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4288536" y="5102352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53128" y="5102352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Condition-specific programs &amp; partnerships (e.g. GLP-1 coaching)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8119872" y="5102352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84464" y="5102352"/>
            <a:ext cx="328269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 Targeted health support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 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&amp; Innovation Study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758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6" name="Text 4"/>
          <p:cNvSpPr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4356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&amp; ML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Ria's generative coaching, photo food-recognition, demand forecasting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07408" y="1188720"/>
            <a:ext cx="36758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1417320"/>
            <a:ext cx="457200" cy="45720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11" name="Text 9"/>
          <p:cNvSpPr/>
          <p:nvPr/>
        </p:nvSpPr>
        <p:spPr>
          <a:xfrm>
            <a:off x="4636008" y="1417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30368" y="14356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Wearable Integrations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36008" y="205740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Syncs with Apple Health, Google Fit &amp; activity trackers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57616" y="1188720"/>
            <a:ext cx="36758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86216" y="1417320"/>
            <a:ext cx="457200" cy="45720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16" name="Text 14"/>
          <p:cNvSpPr/>
          <p:nvPr/>
        </p:nvSpPr>
        <p:spPr>
          <a:xfrm>
            <a:off x="8586216" y="1417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☁️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80576" y="14356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 Infrastructure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86216" y="205740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backend serving 40M+ registered users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36758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474720"/>
            <a:ext cx="457200" cy="45720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21" name="Text 19"/>
          <p:cNvSpPr/>
          <p:nvPr/>
        </p:nvSpPr>
        <p:spPr>
          <a:xfrm>
            <a:off x="685800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💻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34930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Corporate Dashboards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411480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 analytics for wellness-program ROI tracking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07408" y="3246120"/>
            <a:ext cx="36758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3474720"/>
            <a:ext cx="457200" cy="45720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26" name="Text 24"/>
          <p:cNvSpPr/>
          <p:nvPr/>
        </p:nvSpPr>
        <p:spPr>
          <a:xfrm>
            <a:off x="4636008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30368" y="34930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Analytics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36008" y="411480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Personalization models adapting plans to logged behavior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57616" y="3246120"/>
            <a:ext cx="367588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86216" y="3474720"/>
            <a:ext cx="457200" cy="45720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31" name="Text 29"/>
          <p:cNvSpPr/>
          <p:nvPr/>
        </p:nvSpPr>
        <p:spPr>
          <a:xfrm>
            <a:off x="8586216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⚖️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80576" y="34930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Devices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586216" y="411480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Body-composition scales tracking 11+ health metrics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440680"/>
            <a:ext cx="11274552" cy="868680"/>
          </a:xfrm>
          <a:prstGeom prst="roundRect">
            <a:avLst>
              <a:gd name="adj" fmla="val 7368"/>
            </a:avLst>
          </a:prstGeom>
          <a:solidFill>
            <a:srgbClr val="0F2A20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44068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43D5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 Key Innovation: Ria's generative AI now resolves the majority of user queries autonomously — freeing human coaches for the cases that need real expertise.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 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Customer Review &amp; Sentiment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639312" cy="1188720"/>
          </a:xfrm>
          <a:prstGeom prst="roundRect">
            <a:avLst>
              <a:gd name="adj" fmla="val 5385"/>
            </a:avLst>
          </a:prstGeom>
          <a:solidFill>
            <a:srgbClr val="E7F7F0"/>
          </a:solidFill>
        </p:spPr>
      </p:sp>
      <p:sp>
        <p:nvSpPr>
          <p:cNvPr id="5" name="Text 3"/>
          <p:cNvSpPr/>
          <p:nvPr/>
        </p:nvSpPr>
        <p:spPr>
          <a:xfrm>
            <a:off x="457200" y="1207008"/>
            <a:ext cx="363931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46%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639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2A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 Reviews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1143000"/>
            <a:ext cx="3639312" cy="1188720"/>
          </a:xfrm>
          <a:prstGeom prst="roundRect">
            <a:avLst>
              <a:gd name="adj" fmla="val 5385"/>
            </a:avLst>
          </a:prstGeom>
          <a:solidFill>
            <a:srgbClr val="FCF3E5"/>
          </a:solidFill>
        </p:spPr>
      </p:sp>
      <p:sp>
        <p:nvSpPr>
          <p:cNvPr id="8" name="Text 6"/>
          <p:cNvSpPr/>
          <p:nvPr/>
        </p:nvSpPr>
        <p:spPr>
          <a:xfrm>
            <a:off x="4279392" y="1207008"/>
            <a:ext cx="363931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98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79392" y="1783080"/>
            <a:ext cx="3639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2A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 Reviews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1584" y="1143000"/>
            <a:ext cx="3639312" cy="1188720"/>
          </a:xfrm>
          <a:prstGeom prst="roundRect">
            <a:avLst>
              <a:gd name="adj" fmla="val 5385"/>
            </a:avLst>
          </a:prstGeom>
          <a:solidFill>
            <a:srgbClr val="FDF1F1"/>
          </a:solidFill>
        </p:spPr>
      </p:sp>
      <p:sp>
        <p:nvSpPr>
          <p:cNvPr id="11" name="Text 9"/>
          <p:cNvSpPr/>
          <p:nvPr/>
        </p:nvSpPr>
        <p:spPr>
          <a:xfrm>
            <a:off x="8101584" y="1207008"/>
            <a:ext cx="363931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45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01584" y="1783080"/>
            <a:ext cx="36393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2A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Reviews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Aggregated across Google Play (4.3★, 569K+ reviews), Trustpilot, G2 and App Store feedback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639312" cy="3337560"/>
          </a:xfrm>
          <a:prstGeom prst="roundRect">
            <a:avLst>
              <a:gd name="adj" fmla="val 1918"/>
            </a:avLst>
          </a:prstGeom>
          <a:solidFill>
            <a:srgbClr val="E7F7F0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✅ Positive Themes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320040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Real, motivating weight-loss results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Friendly, responsive coaches when engaged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UI &amp; easy food-photo logging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Transparent, upfront subscription pricing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Indian food database accuracy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79392" y="2926080"/>
            <a:ext cx="3639312" cy="3337560"/>
          </a:xfrm>
          <a:prstGeom prst="roundRect">
            <a:avLst>
              <a:gd name="adj" fmla="val 1918"/>
            </a:avLst>
          </a:prstGeom>
          <a:solidFill>
            <a:srgbClr val="FCF3E5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31089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98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⚪ Neutral Themes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53712" y="3520440"/>
            <a:ext cx="320040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vary a lot person to person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tier seen as a limited demo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Coach quality inconsistent across coaches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Workout content is adequate, not extensive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Pricing seen as fair but not cheap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01584" y="2926080"/>
            <a:ext cx="3639312" cy="3337560"/>
          </a:xfrm>
          <a:prstGeom prst="roundRect">
            <a:avLst>
              <a:gd name="adj" fmla="val 1918"/>
            </a:avLst>
          </a:prstGeom>
          <a:solidFill>
            <a:srgbClr val="FDF1F1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31089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645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❌ Negative Themes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75904" y="3520440"/>
            <a:ext cx="320040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support &amp; refund delays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Difficulty switching assigned coaches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Generic diet charts vs. stated needs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cost vs. free alternatives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glitches — shifting calorie targets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 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Competitor Benchmarking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097280"/>
          <a:ext cx="11274552" cy="5029199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HealthifyMe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D5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Cult.fit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Fittr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MyFitnessPal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F2A2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Core Focus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 nutrition + human coaching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Live gym classes &amp; workouts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Community-led fitness coaching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Global calorie/macro tracking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F2A2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Indian Food Data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Best-in-class, India-specific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applicable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Moderate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Weak / crowd-sourced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F2A2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 Rating (Play Store)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4.3★ (569K+ reviews)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4.5★ (143K+ reviews)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4.3★ (20K+ reviews)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~4.6★ (global)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F2A2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Downloads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40M+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10M+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1M+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500M+ (global)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F2A2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Pricing (annual)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₹12,000–₹18,000+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₹24,000–₹48,000+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₹6,000–₹12,000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~₹9,960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0F2A2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Unique Edge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 coach “Ria” + Indian data moat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High-energy, social, gym-based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Peer-community accountability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dirty="0">
                          <a:solidFill>
                            <a:srgbClr val="1329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Massive global food database</a:t>
                      </a:r>
                      <a:endParaRPr lang="en-US" sz="98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07B 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Base &amp; Rating Comparison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387195227"/>
              </p:ext>
            </p:extLst>
          </p:nvPr>
        </p:nvGraphicFramePr>
        <p:xfrm>
          <a:off x="457200" y="118872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2534313572"/>
              </p:ext>
            </p:extLst>
          </p:nvPr>
        </p:nvGraphicFramePr>
        <p:xfrm>
          <a:off x="6309360" y="118872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HealthifyMe leads by scale (40M+ downloads) while Cult.fit edges it on app-store rating; Fittr remains a niche community-led player.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 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SWOT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68112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68112" cy="457200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6" name="Text 4"/>
          <p:cNvSpPr/>
          <p:nvPr/>
        </p:nvSpPr>
        <p:spPr>
          <a:xfrm>
            <a:off x="685800" y="10972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40M+ users, market-leading Indian food database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AI + human coaching model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brand trust and $145M+ funding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Losses narrowed 96% YoY — near breakeven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5468112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097280"/>
            <a:ext cx="5468112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</p:sp>
      <p:sp>
        <p:nvSpPr>
          <p:cNvPr id="10" name="Text 8"/>
          <p:cNvSpPr/>
          <p:nvPr/>
        </p:nvSpPr>
        <p:spPr>
          <a:xfrm>
            <a:off x="6492240" y="10972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16916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Inconsistent customer support &amp; refund handling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declined 14% YoY in FY25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Premium pricing vs. free/low-cost alternatives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Workout content weaker than fitness-first rivals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5468112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94760"/>
            <a:ext cx="5468112" cy="457200"/>
          </a:xfrm>
          <a:prstGeom prst="rect">
            <a:avLst/>
          </a:prstGeom>
          <a:solidFill>
            <a:srgbClr val="00B050"/>
          </a:solidFill>
        </p:spPr>
      </p:sp>
      <p:sp>
        <p:nvSpPr>
          <p:cNvPr id="14" name="Text 12"/>
          <p:cNvSpPr/>
          <p:nvPr/>
        </p:nvSpPr>
        <p:spPr>
          <a:xfrm>
            <a:off x="685800" y="37947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2/3 city expansion — 400M+ untapped users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 fitness-app market growing at ~19% CAGR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GLP-1 / weight-loss-drug adjacent coaching demand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International expansion (US, SEA) via fresh capital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468112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794760"/>
            <a:ext cx="5468112" cy="457200"/>
          </a:xfrm>
          <a:prstGeom prst="rect">
            <a:avLst/>
          </a:prstGeom>
          <a:solidFill>
            <a:srgbClr val="FF0000"/>
          </a:solidFill>
        </p:spPr>
      </p:sp>
      <p:sp>
        <p:nvSpPr>
          <p:cNvPr id="18" name="Text 16"/>
          <p:cNvSpPr/>
          <p:nvPr/>
        </p:nvSpPr>
        <p:spPr>
          <a:xfrm>
            <a:off x="6492240" y="37947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THREATS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38912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Low-cost AI-native challengers undercutting price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apps (MyFitnessPal, Noom) entering deeper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Customer-service reputation risk on public review sites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◆"/>
            </a:pPr>
            <a:r>
              <a:rPr lang="en-US" sz="105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Rising customer-acquisition costs in a crowded market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09 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Insights &amp;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Top Strengths (What's Working)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63640" y="1051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Areas (Where Improvement Needed)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0370"/>
            <a:ext cx="5166360" cy="5041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4.3★ rating across 569K+ Play Store reviews signals genuine product quality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457200" y="2350008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7725" y="2488565"/>
            <a:ext cx="5141595" cy="5473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+ human coaching hybrid drives real, cited weight-loss outcomes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457200" y="3191256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5185" y="3363595"/>
            <a:ext cx="5144135" cy="5137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Indian food database remains a durable moat vs. global rivals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457200" y="4032504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205605"/>
            <a:ext cx="5120640" cy="512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Losses narrowed 96% YoY in FY25 — a clear path to breakeven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457200" y="4873752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7725" y="5046980"/>
            <a:ext cx="5141595" cy="512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Ria AI resolves the majority of queries autonomously, improving unit economics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6263640" y="150876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1654810"/>
            <a:ext cx="5166360" cy="539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42% negative sentiment — customer support is the top complaint driver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6263640" y="2350008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82105" y="2505075"/>
            <a:ext cx="5113655" cy="5308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Refund and coach-switching friction recur across Trustpilot, G2, PissedConsumer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6263640" y="3191256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82105" y="3380105"/>
            <a:ext cx="5113655" cy="4972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declined 14% YoY in FY25 despite user-base growth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6263640" y="4032504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3215" y="4222115"/>
            <a:ext cx="5122545" cy="495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Generic diet charts undercut the core “personalized AI coaching” promise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6263640" y="4873752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3215" y="5037455"/>
            <a:ext cx="512254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Perceived high cost vs. free/low-cost alternatives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09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Financial Performance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35885" cy="170243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280160"/>
            <a:ext cx="457200" cy="45720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6" name="Text 4"/>
          <p:cNvSpPr/>
          <p:nvPr/>
        </p:nvSpPr>
        <p:spPr>
          <a:xfrm>
            <a:off x="658368" y="1280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₹178 Cr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(FY25)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54203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-14% YoY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3425" y="1097280"/>
            <a:ext cx="2692400" cy="17056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280160"/>
            <a:ext cx="457200" cy="45720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12" name="Text 10"/>
          <p:cNvSpPr/>
          <p:nvPr/>
        </p:nvSpPr>
        <p:spPr>
          <a:xfrm>
            <a:off x="3474720" y="1280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1828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₹4.7 Cr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Loss (FY25)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54203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-96% YoY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9650" y="1097280"/>
            <a:ext cx="2699385" cy="171132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1280160"/>
            <a:ext cx="457200" cy="45720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18" name="Text 16"/>
          <p:cNvSpPr/>
          <p:nvPr/>
        </p:nvSpPr>
        <p:spPr>
          <a:xfrm>
            <a:off x="6291072" y="1280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91072" y="1828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40M+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91072" y="2286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Registered Users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254203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Cumulative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06510" y="1097280"/>
            <a:ext cx="2826385" cy="171577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07424" y="1280160"/>
            <a:ext cx="457200" cy="45720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24" name="Text 22"/>
          <p:cNvSpPr/>
          <p:nvPr/>
        </p:nvSpPr>
        <p:spPr>
          <a:xfrm>
            <a:off x="9107424" y="1280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7424" y="1828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$145M+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07424" y="2286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Funding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07424" y="254203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Series C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57200" y="2926080"/>
          <a:ext cx="55778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6263640" y="2926080"/>
            <a:ext cx="5468112" cy="3291840"/>
          </a:xfrm>
          <a:prstGeom prst="roundRect">
            <a:avLst>
              <a:gd name="adj" fmla="val 1944"/>
            </a:avLst>
          </a:prstGeom>
          <a:solidFill>
            <a:srgbClr val="0F2A20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37960" y="31089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3D59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Growth &amp; Efficiency Drivers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537960" y="3520440"/>
            <a:ext cx="493776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expenses cut 38% YoY (₹295 Cr → ₹182.6 Cr) via workforce &amp; marketing discipline</a:t>
            </a:r>
            <a:endParaRPr lang="en-US" sz="110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Advertising spend down 82% YoY — shift to organic &amp; retention-led growth</a:t>
            </a:r>
            <a:endParaRPr lang="en-US" sz="110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Export/international revenue stable at ~₹60 Cr, cushioning domestic dip</a:t>
            </a:r>
            <a:endParaRPr lang="en-US" sz="110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 revenue up 11% YoY (smart scales, CGMs)</a:t>
            </a:r>
            <a:endParaRPr lang="en-US" sz="110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D7F0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Singapore entity turned profitable ($31.6M net profit, FY24)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 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Strategic Recommendations — Short Term (0–12 months)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67588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99032"/>
            <a:ext cx="502920" cy="50292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6" name="Text 4"/>
          <p:cNvSpPr/>
          <p:nvPr/>
        </p:nvSpPr>
        <p:spPr>
          <a:xfrm>
            <a:off x="713232" y="13990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88920" y="143560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</p:spPr>
      </p:sp>
      <p:sp>
        <p:nvSpPr>
          <p:cNvPr id="8" name="Text 6"/>
          <p:cNvSpPr/>
          <p:nvPr/>
        </p:nvSpPr>
        <p:spPr>
          <a:xfrm>
            <a:off x="2788920" y="1435608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Impact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" y="20574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Fix Support SLAs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5603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Tracked refund &amp; coach-switch turnaround targets, published to 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7408" y="1143000"/>
            <a:ext cx="367588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99032"/>
            <a:ext cx="502920" cy="50292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13" name="Text 11"/>
          <p:cNvSpPr/>
          <p:nvPr/>
        </p:nvSpPr>
        <p:spPr>
          <a:xfrm>
            <a:off x="4663440" y="13990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🎧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739128" y="143560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</p:spPr>
      </p:sp>
      <p:sp>
        <p:nvSpPr>
          <p:cNvPr id="15" name="Text 13"/>
          <p:cNvSpPr/>
          <p:nvPr/>
        </p:nvSpPr>
        <p:spPr>
          <a:xfrm>
            <a:off x="6739128" y="1435608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Retention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20574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AI-Powered Support Triage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Ria's autonomous resolution from nutrition queries to support tickets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57616" y="1143000"/>
            <a:ext cx="367588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13648" y="1399032"/>
            <a:ext cx="502920" cy="50292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20" name="Text 18"/>
          <p:cNvSpPr/>
          <p:nvPr/>
        </p:nvSpPr>
        <p:spPr>
          <a:xfrm>
            <a:off x="8613648" y="13990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689336" y="143560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</p:spPr>
      </p:sp>
      <p:sp>
        <p:nvSpPr>
          <p:cNvPr id="22" name="Text 20"/>
          <p:cNvSpPr/>
          <p:nvPr/>
        </p:nvSpPr>
        <p:spPr>
          <a:xfrm>
            <a:off x="10689336" y="1435608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Rebuild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13648" y="20574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Transparent Pricing Pages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13648" y="25603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plan comparisons to kill the “hidden upsell” perception in reviews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367588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" y="3959352"/>
            <a:ext cx="502920" cy="50292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27" name="Text 25"/>
          <p:cNvSpPr/>
          <p:nvPr/>
        </p:nvSpPr>
        <p:spPr>
          <a:xfrm>
            <a:off x="713232" y="39593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🧑‍⚕️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2788920" y="39959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</p:spPr>
      </p:sp>
      <p:sp>
        <p:nvSpPr>
          <p:cNvPr id="29" name="Text 27"/>
          <p:cNvSpPr/>
          <p:nvPr/>
        </p:nvSpPr>
        <p:spPr>
          <a:xfrm>
            <a:off x="2788920" y="3995928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Personalization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3232" y="46177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Flexible Coach-Matching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13232" y="512064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switching to specialty coaches (pregnancy, diabetes, PCOS)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07408" y="3703320"/>
            <a:ext cx="367588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959352"/>
            <a:ext cx="502920" cy="50292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34" name="Text 32"/>
          <p:cNvSpPr/>
          <p:nvPr/>
        </p:nvSpPr>
        <p:spPr>
          <a:xfrm>
            <a:off x="4663440" y="39593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🏋️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739128" y="39959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</p:spPr>
      </p:sp>
      <p:sp>
        <p:nvSpPr>
          <p:cNvPr id="36" name="Text 34"/>
          <p:cNvSpPr/>
          <p:nvPr/>
        </p:nvSpPr>
        <p:spPr>
          <a:xfrm>
            <a:off x="6739128" y="3995928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Engagement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46177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Richer Workout Library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663440" y="512064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Video/live workout content to close the gap with Cult.fit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57616" y="3703320"/>
            <a:ext cx="367588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613648" y="3959352"/>
            <a:ext cx="502920" cy="502920"/>
          </a:xfrm>
          <a:prstGeom prst="ellipse">
            <a:avLst/>
          </a:prstGeom>
          <a:solidFill>
            <a:srgbClr val="E7F7F0"/>
          </a:solidFill>
        </p:spPr>
      </p:sp>
      <p:sp>
        <p:nvSpPr>
          <p:cNvPr id="41" name="Text 39"/>
          <p:cNvSpPr/>
          <p:nvPr/>
        </p:nvSpPr>
        <p:spPr>
          <a:xfrm>
            <a:off x="8613648" y="39593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⭐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0689336" y="39959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E7F7F0"/>
          </a:solidFill>
        </p:spPr>
      </p:sp>
      <p:sp>
        <p:nvSpPr>
          <p:cNvPr id="43" name="Text 41"/>
          <p:cNvSpPr/>
          <p:nvPr/>
        </p:nvSpPr>
        <p:spPr>
          <a:xfrm>
            <a:off x="10689336" y="3995928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Retention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613648" y="46177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Loyalty &amp; Referral Push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613648" y="512064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Reward long-term subscribers to offset rising acquisition costs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3" name="Text 1"/>
          <p:cNvSpPr/>
          <p:nvPr/>
        </p:nvSpPr>
        <p:spPr>
          <a:xfrm>
            <a:off x="457200" y="2926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9E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  |  </a:t>
            </a:r>
            <a:r>
              <a:rPr lang="en-US" sz="22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Strategic Recommendations — Long Term (1–3 years)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3931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639312" cy="548640"/>
          </a:xfrm>
          <a:prstGeom prst="rect">
            <a:avLst/>
          </a:prstGeom>
          <a:solidFill>
            <a:srgbClr val="129E6B"/>
          </a:solidFill>
        </p:spPr>
      </p:sp>
      <p:sp>
        <p:nvSpPr>
          <p:cNvPr id="6" name="Text 4"/>
          <p:cNvSpPr/>
          <p:nvPr/>
        </p:nvSpPr>
        <p:spPr>
          <a:xfrm>
            <a:off x="457200" y="1188720"/>
            <a:ext cx="3639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Year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10896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GLP-1 / Novo Nordisk coaching partnership nationally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corporate wellness (B2B2C) to more employers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Localize pricing &amp; coaching for Tier 2/3 cities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188720"/>
            <a:ext cx="363931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188720"/>
            <a:ext cx="3639312" cy="548640"/>
          </a:xfrm>
          <a:prstGeom prst="rect">
            <a:avLst/>
          </a:prstGeom>
          <a:solidFill>
            <a:srgbClr val="43D598"/>
          </a:solidFill>
        </p:spPr>
      </p:sp>
      <p:sp>
        <p:nvSpPr>
          <p:cNvPr id="10" name="Text 8"/>
          <p:cNvSpPr/>
          <p:nvPr/>
        </p:nvSpPr>
        <p:spPr>
          <a:xfrm>
            <a:off x="4370832" y="1188720"/>
            <a:ext cx="3639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Year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1965960"/>
            <a:ext cx="310896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International expansion (US, SEA) building on fresh capital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Deepen Ria's autonomous resolution beyond current levels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mental-wellness &amp; holistic-health bundle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84464" y="1188720"/>
            <a:ext cx="363931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E1EFE9"/>
            </a:solidFill>
            <a:prstDash val="solid"/>
          </a:ln>
          <a:effectLst>
            <a:outerShdw blurRad="88900" dist="25400" dir="5400000" algn="bl" rotWithShape="0">
              <a:srgbClr val="0B3A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84464" y="1188720"/>
            <a:ext cx="3639312" cy="548640"/>
          </a:xfrm>
          <a:prstGeom prst="rect">
            <a:avLst/>
          </a:prstGeom>
          <a:solidFill>
            <a:srgbClr val="0F2A20"/>
          </a:solidFill>
        </p:spPr>
      </p:sp>
      <p:sp>
        <p:nvSpPr>
          <p:cNvPr id="14" name="Text 12"/>
          <p:cNvSpPr/>
          <p:nvPr/>
        </p:nvSpPr>
        <p:spPr>
          <a:xfrm>
            <a:off x="8284464" y="1188720"/>
            <a:ext cx="3639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Year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58784" y="1965960"/>
            <a:ext cx="310896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 sustained EBITDA profitability, India + international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 as India's leading AI clinical-health super-app</a:t>
            </a:r>
            <a:endParaRPr lang="en-US" sz="11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100" dirty="0">
                <a:solidFill>
                  <a:srgbClr val="1329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readiness for growth-equity / IPO-stage scale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11274552" cy="1188720"/>
          </a:xfrm>
          <a:prstGeom prst="roundRect">
            <a:avLst>
              <a:gd name="adj" fmla="val 5385"/>
            </a:avLst>
          </a:prstGeom>
          <a:solidFill>
            <a:srgbClr val="0F2A20"/>
          </a:solidFill>
          <a:ln w="12700">
            <a:solidFill>
              <a:srgbClr val="E1EF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9200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43D5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Goal: Return to ₹250 Cr+ revenue with sustained profitability and 60M+ users by FY28 — through AI-led efficiency, international expansion and deeper corporate wellness partnerships.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50292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Results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5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HealthifyMe remains India's most-downloaded AI health &amp; nutrition platform, with 40M+ 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75688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075688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5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FY25 losses narrowed 96% to ₹4.7 Cr — a clear path toward sustained profitability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734056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5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46% positive sentiment driven by real weight-loss outcomes and AI + human coaching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92424"/>
            <a:ext cx="45720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339242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5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pain points: refund delays, coach-switching friction and generic diet-chart complaints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050792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050792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5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2/3 city expansion and GLP-1-era coaching demand are the largest near-term growth levers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47091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5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International expansion (US, SEA) and deeper AI automation are strategically sound long-term bets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458968"/>
            <a:ext cx="11064240" cy="0"/>
          </a:xfrm>
          <a:prstGeom prst="line">
            <a:avLst/>
          </a:prstGeom>
          <a:noFill/>
          <a:ln w="12700">
            <a:solidFill>
              <a:srgbClr val="1F5A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596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BF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Strategy Report  •  HealthifyMe  •  HealthTech Domain  •  2025–26</a:t>
            </a:r>
            <a:endParaRPr lang="en-US" sz="1100" dirty="0"/>
          </a:p>
        </p:txBody>
      </p:sp>
      <p:sp>
        <p:nvSpPr>
          <p:cNvPr id="21" name="Teardrop 20">
            <a:extLst>
              <a:ext uri="{FF2B5EF4-FFF2-40B4-BE49-F238E27FC236}">
                <a16:creationId xmlns:a16="http://schemas.microsoft.com/office/drawing/2014/main" id="{36F15CA2-F761-333C-3ABB-2142B755B848}"/>
              </a:ext>
            </a:extLst>
          </p:cNvPr>
          <p:cNvSpPr/>
          <p:nvPr/>
        </p:nvSpPr>
        <p:spPr>
          <a:xfrm>
            <a:off x="8622454" y="0"/>
            <a:ext cx="3569546" cy="3341963"/>
          </a:xfrm>
          <a:prstGeom prst="teardrop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ardrop 22">
            <a:extLst>
              <a:ext uri="{FF2B5EF4-FFF2-40B4-BE49-F238E27FC236}">
                <a16:creationId xmlns:a16="http://schemas.microsoft.com/office/drawing/2014/main" id="{C6B55B95-205E-8715-AAE7-552AEBCA43E4}"/>
              </a:ext>
            </a:extLst>
          </p:cNvPr>
          <p:cNvSpPr/>
          <p:nvPr/>
        </p:nvSpPr>
        <p:spPr>
          <a:xfrm rot="10800000">
            <a:off x="0" y="5458968"/>
            <a:ext cx="1608667" cy="1412450"/>
          </a:xfrm>
          <a:prstGeom prst="teardrop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1717</Words>
  <Application>Microsoft Office PowerPoint</Application>
  <PresentationFormat>Widescreen</PresentationFormat>
  <Paragraphs>325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 bala surya prakash</cp:lastModifiedBy>
  <cp:revision>5</cp:revision>
  <dcterms:created xsi:type="dcterms:W3CDTF">2026-09-14T10:23:00Z</dcterms:created>
  <dcterms:modified xsi:type="dcterms:W3CDTF">2026-09-20T13:18:42Z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AEDB3CB7CD26475CBA177D56F40E3021_12</vt:lpwstr>
  </property>
</Properties>
</file>