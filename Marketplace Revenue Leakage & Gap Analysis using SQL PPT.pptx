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7B"/>
                </a:solidFill>
                <a:latin typeface="+mn-lt"/>
              </a:rPr>
              <a:t>Revenue to net profit (₹ Cr)</a:t>
            </a:r>
            <a:endParaRPr sz="1300" b="0" i="0" u="none" strike="noStrike">
              <a:solidFill>
                <a:srgbClr val="5B6B7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(Cr)</c:v>
                </c:pt>
              </c:strCache>
            </c:strRef>
          </c:tx>
          <c:spPr>
            <a:solidFill>
              <a:srgbClr val="26465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646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Lbls>
            <c:numFmt formatCode="&quot;₹&quot;0.00\ &quot;Cr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Revenue</c:v>
                </c:pt>
                <c:pt idx="1">
                  <c:v>Cost</c:v>
                </c:pt>
                <c:pt idx="2">
                  <c:v>Gross profit</c:v>
                </c:pt>
                <c:pt idx="3">
                  <c:v>Net profit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4.86</c:v>
                </c:pt>
                <c:pt idx="1">
                  <c:v>2.38</c:v>
                </c:pt>
                <c:pt idx="2">
                  <c:v>2.48</c:v>
                </c:pt>
                <c:pt idx="3">
                  <c:v>1.75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063246f-6707-4089-95dd-ab5ce83c1468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7B"/>
                </a:solidFill>
                <a:latin typeface="+mn-lt"/>
              </a:rPr>
              <a:t>Sales vs gross profit by category (₹ Lakh)</a:t>
            </a:r>
            <a:endParaRPr sz="1300" b="0" i="0" u="none" strike="noStrike">
              <a:solidFill>
                <a:srgbClr val="5B6B7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64653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Fashion</c:v>
                </c:pt>
                <c:pt idx="2">
                  <c:v>Home</c:v>
                </c:pt>
                <c:pt idx="3">
                  <c:v>Grocery</c:v>
                </c:pt>
                <c:pt idx="4">
                  <c:v>Beauty</c:v>
                </c:pt>
                <c:pt idx="5">
                  <c:v>Uncategorized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92.19</c:v>
                </c:pt>
                <c:pt idx="1">
                  <c:v>89.2</c:v>
                </c:pt>
                <c:pt idx="2">
                  <c:v>82.1</c:v>
                </c:pt>
                <c:pt idx="3">
                  <c:v>77.29</c:v>
                </c:pt>
                <c:pt idx="4">
                  <c:v>77.12</c:v>
                </c:pt>
                <c:pt idx="5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Fashion</c:v>
                </c:pt>
                <c:pt idx="2">
                  <c:v>Home</c:v>
                </c:pt>
                <c:pt idx="3">
                  <c:v>Grocery</c:v>
                </c:pt>
                <c:pt idx="4">
                  <c:v>Beauty</c:v>
                </c:pt>
                <c:pt idx="5">
                  <c:v>Uncategorized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47.16</c:v>
                </c:pt>
                <c:pt idx="1">
                  <c:v>43.98</c:v>
                </c:pt>
                <c:pt idx="2">
                  <c:v>41.81</c:v>
                </c:pt>
                <c:pt idx="3">
                  <c:v>40.37</c:v>
                </c:pt>
                <c:pt idx="4">
                  <c:v>39.57</c:v>
                </c:pt>
                <c:pt idx="5">
                  <c:v>34.62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5B6B7B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bc0b6beb-6ee5-4ce5-8b3c-a3825d51f3e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7B"/>
                </a:solidFill>
                <a:latin typeface="+mn-lt"/>
              </a:rPr>
              <a:t>5 worst products, net loss (₹ thousand)</a:t>
            </a:r>
            <a:endParaRPr sz="1300" b="0" i="0" u="none" strike="noStrike">
              <a:solidFill>
                <a:srgbClr val="5B6B7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loss (₹ thousand)</c:v>
                </c:pt>
              </c:strCache>
            </c:strRef>
          </c:tx>
          <c:spPr>
            <a:solidFill>
              <a:srgbClr val="C1121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P23 Electronics</c:v>
                </c:pt>
                <c:pt idx="1">
                  <c:v>P562 Home</c:v>
                </c:pt>
                <c:pt idx="2">
                  <c:v>P891 Home</c:v>
                </c:pt>
                <c:pt idx="3">
                  <c:v>P773 Home</c:v>
                </c:pt>
                <c:pt idx="4">
                  <c:v>P652 Beauty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14.4</c:v>
                </c:pt>
                <c:pt idx="1">
                  <c:v>12.6</c:v>
                </c:pt>
                <c:pt idx="2">
                  <c:v>12.1</c:v>
                </c:pt>
                <c:pt idx="3">
                  <c:v>11.8</c:v>
                </c:pt>
                <c:pt idx="4">
                  <c:v>11.7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b41c405-0ad9-41e0-a1c7-165940f7e0d2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7B"/>
                </a:solidFill>
                <a:latin typeface="+mn-lt"/>
              </a:rPr>
              <a:t>Share of orders</a:t>
            </a:r>
            <a:endParaRPr sz="1300" b="0" i="0" u="none" strike="noStrike">
              <a:solidFill>
                <a:srgbClr val="5B6B7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bubble3D val="0"/>
            <c:spPr>
              <a:solidFill>
                <a:srgbClr val="8D99AE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300" b="0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300" b="0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Discounted</c:v>
                </c:pt>
                <c:pt idx="1">
                  <c:v>No discount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5416</c:v>
                </c:pt>
                <c:pt idx="1">
                  <c:v>10703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5B6B7B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aebcf60-1c6a-4383-81e7-5da8ff88d81a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7B"/>
                </a:solidFill>
                <a:latin typeface="+mn-lt"/>
              </a:rPr>
              <a:t>Sales by payment method (₹ Lakh)</a:t>
            </a:r>
            <a:endParaRPr sz="1300" b="0" i="0" u="none" strike="noStrike">
              <a:solidFill>
                <a:srgbClr val="5B6B7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 Lakh)</c:v>
                </c:pt>
              </c:strCache>
            </c:strRef>
          </c:tx>
          <c:spPr>
            <a:solidFill>
              <a:srgbClr val="C1121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INVALID</c:v>
                </c:pt>
                <c:pt idx="1">
                  <c:v>UPI</c:v>
                </c:pt>
                <c:pt idx="2">
                  <c:v>WALLET</c:v>
                </c:pt>
                <c:pt idx="3">
                  <c:v>COD</c:v>
                </c:pt>
                <c:pt idx="4">
                  <c:v>CARD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99.76</c:v>
                </c:pt>
                <c:pt idx="1">
                  <c:v>99.27</c:v>
                </c:pt>
                <c:pt idx="2">
                  <c:v>96.55</c:v>
                </c:pt>
                <c:pt idx="3">
                  <c:v>96.18</c:v>
                </c:pt>
                <c:pt idx="4">
                  <c:v>94.14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f84f109-c8ff-4eec-bff2-9660ef2712d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7B"/>
                </a:solidFill>
                <a:latin typeface="+mn-lt"/>
              </a:rPr>
              <a:t>Average profit per order (₹)</a:t>
            </a:r>
            <a:endParaRPr sz="1300" b="0" i="0" u="none" strike="noStrike">
              <a:solidFill>
                <a:srgbClr val="5B6B7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before discount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No discount</c:v>
                </c:pt>
                <c:pt idx="1">
                  <c:v>Discounted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1521</c:v>
                </c:pt>
                <c:pt idx="1">
                  <c:v>1564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after discount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No discount</c:v>
                </c:pt>
                <c:pt idx="1">
                  <c:v>Discounted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1521</c:v>
                </c:pt>
                <c:pt idx="1">
                  <c:v>789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5B6B7B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0f758a9-40bc-46fd-964e-cadf44d500d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7B"/>
                </a:solidFill>
                <a:latin typeface="+mn-lt"/>
              </a:rPr>
              <a:t>Revenue lost by return reason, with number of returns (₹ Lakh)</a:t>
            </a:r>
            <a:endParaRPr sz="1300" b="0" i="0" u="none" strike="noStrike">
              <a:solidFill>
                <a:srgbClr val="5B6B7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lost (₹ Lakh)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6465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6465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Not Specified (168)</c:v>
                </c:pt>
                <c:pt idx="1">
                  <c:v>Quality Issue (163)</c:v>
                </c:pt>
                <c:pt idx="2">
                  <c:v>Late Delivery (154)</c:v>
                </c:pt>
                <c:pt idx="3">
                  <c:v>Wrong Item (167)</c:v>
                </c:pt>
                <c:pt idx="4">
                  <c:v>Customer Changed Mind (172)</c:v>
                </c:pt>
                <c:pt idx="5">
                  <c:v>Damaged (154)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5.08</c:v>
                </c:pt>
                <c:pt idx="1">
                  <c:v>4.92</c:v>
                </c:pt>
                <c:pt idx="2">
                  <c:v>4.82</c:v>
                </c:pt>
                <c:pt idx="3">
                  <c:v>4.81</c:v>
                </c:pt>
                <c:pt idx="4">
                  <c:v>4.77</c:v>
                </c:pt>
                <c:pt idx="5">
                  <c:v>4.75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21f3cb5-c3ef-434b-9d5c-caf9ab780e6f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7B"/>
                </a:solidFill>
                <a:latin typeface="+mn-lt"/>
              </a:rPr>
              <a:t>High-logistics orders by category</a:t>
            </a:r>
            <a:endParaRPr sz="1300" b="0" i="0" u="none" strike="noStrike">
              <a:solidFill>
                <a:srgbClr val="5B6B7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Beauty</c:v>
                </c:pt>
                <c:pt idx="2">
                  <c:v>Fashion</c:v>
                </c:pt>
                <c:pt idx="3">
                  <c:v>Home</c:v>
                </c:pt>
                <c:pt idx="4">
                  <c:v>Grocery</c:v>
                </c:pt>
                <c:pt idx="5">
                  <c:v>Uncategorized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</c:v>
                </c:pt>
                <c:pt idx="1">
                  <c:v>50</c:v>
                </c:pt>
                <c:pt idx="2">
                  <c:v>46</c:v>
                </c:pt>
                <c:pt idx="3">
                  <c:v>46</c:v>
                </c:pt>
                <c:pt idx="4">
                  <c:v>39</c:v>
                </c:pt>
                <c:pt idx="5">
                  <c:v>38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88e8f53-0cc3-4d63-97c3-92b2dd3a377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7B"/>
                </a:solidFill>
                <a:latin typeface="+mn-lt"/>
              </a:rPr>
              <a:t>Total gateway fee by method (₹ Lakh), fee rate in brackets</a:t>
            </a:r>
            <a:endParaRPr sz="1300" b="0" i="0" u="none" strike="noStrike">
              <a:solidFill>
                <a:srgbClr val="5B6B7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Gateway fee (₹ Lakh)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6465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COD (3.5%)</c:v>
                </c:pt>
                <c:pt idx="1">
                  <c:v>CARD (2.1%)</c:v>
                </c:pt>
                <c:pt idx="2">
                  <c:v>WALLET (2.0%)</c:v>
                </c:pt>
                <c:pt idx="3">
                  <c:v>UPI (1.2%)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3.37</c:v>
                </c:pt>
                <c:pt idx="1">
                  <c:v>1.98</c:v>
                </c:pt>
                <c:pt idx="2">
                  <c:v>1.93</c:v>
                </c:pt>
                <c:pt idx="3">
                  <c:v>1.19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0af4f2e-0ebe-4c0b-a230-58177daccea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7B"/>
                </a:solidFill>
                <a:latin typeface="+mn-lt"/>
              </a:rPr>
              <a:t>Share of total leakage</a:t>
            </a:r>
            <a:endParaRPr sz="1300" b="0" i="0" u="none" strike="noStrike">
              <a:solidFill>
                <a:srgbClr val="5B6B7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Leakage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bubble3D val="0"/>
            <c:spPr>
              <a:solidFill>
                <a:srgbClr val="264653"/>
              </a:solidFill>
              <a:effectLst/>
            </c:spPr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bubble3D val="0"/>
            <c:spPr>
              <a:solidFill>
                <a:srgbClr val="0E7C86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300" b="0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300" b="0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300" b="0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300" b="0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Discounts</c:v>
                </c:pt>
                <c:pt idx="1">
                  <c:v>Returns</c:v>
                </c:pt>
                <c:pt idx="2">
                  <c:v>Payment Fees</c:v>
                </c:pt>
                <c:pt idx="3">
                  <c:v>Logistics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41.96</c:v>
                </c:pt>
                <c:pt idx="1">
                  <c:v>14.99</c:v>
                </c:pt>
                <c:pt idx="2">
                  <c:v>8.47</c:v>
                </c:pt>
                <c:pt idx="3">
                  <c:v>6.73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5B6B7B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ce6a0ea-6a8f-4f33-b99a-498d6bbcb72c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7B"/>
                </a:solidFill>
                <a:latin typeface="+mn-lt"/>
              </a:rPr>
              <a:t>Top 10 products by net profit (₹ thousand)</a:t>
            </a:r>
            <a:endParaRPr sz="1300" b="0" i="0" u="none" strike="noStrike">
              <a:solidFill>
                <a:srgbClr val="5B6B7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(₹ thousand)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#1  P124 Grocery</c:v>
                </c:pt>
                <c:pt idx="1">
                  <c:v>#2  P963 Grocery</c:v>
                </c:pt>
                <c:pt idx="2">
                  <c:v>#3  P973 Uncategorized</c:v>
                </c:pt>
                <c:pt idx="3">
                  <c:v>#4  P960 Fashion</c:v>
                </c:pt>
                <c:pt idx="4">
                  <c:v>#5  P1640 Electronics</c:v>
                </c:pt>
                <c:pt idx="5">
                  <c:v>#6  P280 Uncategorized</c:v>
                </c:pt>
                <c:pt idx="6">
                  <c:v>#7  P663 Beauty</c:v>
                </c:pt>
                <c:pt idx="7">
                  <c:v>#8  P549 Grocery</c:v>
                </c:pt>
                <c:pt idx="8">
                  <c:v>#9  P1219 Beauty</c:v>
                </c:pt>
                <c:pt idx="9">
                  <c:v>#10  P944 Home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48.2</c:v>
                </c:pt>
                <c:pt idx="1">
                  <c:v>47.8</c:v>
                </c:pt>
                <c:pt idx="2">
                  <c:v>46.4</c:v>
                </c:pt>
                <c:pt idx="3">
                  <c:v>45.9</c:v>
                </c:pt>
                <c:pt idx="4">
                  <c:v>42.3</c:v>
                </c:pt>
                <c:pt idx="5">
                  <c:v>41.4</c:v>
                </c:pt>
                <c:pt idx="6">
                  <c:v>40.6</c:v>
                </c:pt>
                <c:pt idx="7">
                  <c:v>40.5</c:v>
                </c:pt>
                <c:pt idx="8">
                  <c:v>39.6</c:v>
                </c:pt>
                <c:pt idx="9">
                  <c:v>39.4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23ec5ae-c472-46b5-a287-ab8d250867f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7B"/>
                </a:solidFill>
                <a:latin typeface="+mn-lt"/>
              </a:rPr>
              <a:t>Margin variation by category (std. dev., % points)</a:t>
            </a:r>
            <a:endParaRPr sz="1300" b="0" i="0" u="none" strike="noStrike">
              <a:solidFill>
                <a:srgbClr val="5B6B7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Std. deviation of order margin %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6465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6465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6465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6465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64653"/>
              </a:solidFill>
              <a:effectLst/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Fashion</c:v>
                </c:pt>
                <c:pt idx="1">
                  <c:v>Uncategorized</c:v>
                </c:pt>
                <c:pt idx="2">
                  <c:v>Grocery</c:v>
                </c:pt>
                <c:pt idx="3">
                  <c:v>Electronics</c:v>
                </c:pt>
                <c:pt idx="4">
                  <c:v>Home</c:v>
                </c:pt>
                <c:pt idx="5">
                  <c:v>Beauty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62.1</c:v>
                </c:pt>
                <c:pt idx="1">
                  <c:v>61</c:v>
                </c:pt>
                <c:pt idx="2">
                  <c:v>60.3</c:v>
                </c:pt>
                <c:pt idx="3">
                  <c:v>59.9</c:v>
                </c:pt>
                <c:pt idx="4">
                  <c:v>58.7</c:v>
                </c:pt>
                <c:pt idx="5">
                  <c:v>58.6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cadc6c2-567c-40fd-9960-8ef547e8c108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7B"/>
                </a:solidFill>
                <a:latin typeface="+mn-lt"/>
              </a:rPr>
              <a:t>Customers with returns, by personal return rate</a:t>
            </a:r>
            <a:endParaRPr sz="1300" b="0" i="0" u="none" strike="noStrike">
              <a:solidFill>
                <a:srgbClr val="5B6B7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10-25%</c:v>
                </c:pt>
                <c:pt idx="1">
                  <c:v>25-50%</c:v>
                </c:pt>
                <c:pt idx="2">
                  <c:v>&gt;50%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187</c:v>
                </c:pt>
                <c:pt idx="1">
                  <c:v>541</c:v>
                </c:pt>
                <c:pt idx="2">
                  <c:v>191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c720126-11c9-4413-8f1c-d7212cda0cf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7B"/>
                </a:solidFill>
                <a:latin typeface="+mn-lt"/>
              </a:rPr>
              <a:t>From sales to net profit (₹ Cr)</a:t>
            </a:r>
            <a:endParaRPr sz="1300" b="0" i="0" u="none" strike="noStrike">
              <a:solidFill>
                <a:srgbClr val="5B6B7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Sales
4.86</c:v>
                </c:pt>
                <c:pt idx="1">
                  <c:v>Cost
-2.38</c:v>
                </c:pt>
                <c:pt idx="2">
                  <c:v>Gross profit
2.48</c:v>
                </c:pt>
                <c:pt idx="3">
                  <c:v>Discounts
-0.42</c:v>
                </c:pt>
                <c:pt idx="4">
                  <c:v>Returns
-0.15</c:v>
                </c:pt>
                <c:pt idx="5">
                  <c:v>Logistics
-0.07</c:v>
                </c:pt>
                <c:pt idx="6">
                  <c:v>Fees
-0.09</c:v>
                </c:pt>
                <c:pt idx="7">
                  <c:v>Net profit
1.75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2.475</c:v>
                </c:pt>
                <c:pt idx="2">
                  <c:v>0</c:v>
                </c:pt>
                <c:pt idx="3">
                  <c:v>2.055</c:v>
                </c:pt>
                <c:pt idx="4">
                  <c:v>1.905</c:v>
                </c:pt>
                <c:pt idx="5">
                  <c:v>1.838</c:v>
                </c:pt>
                <c:pt idx="6">
                  <c:v>1.754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Sales
4.86</c:v>
                </c:pt>
                <c:pt idx="1">
                  <c:v>Cost
-2.38</c:v>
                </c:pt>
                <c:pt idx="2">
                  <c:v>Gross profit
2.48</c:v>
                </c:pt>
                <c:pt idx="3">
                  <c:v>Discounts
-0.42</c:v>
                </c:pt>
                <c:pt idx="4">
                  <c:v>Returns
-0.15</c:v>
                </c:pt>
                <c:pt idx="5">
                  <c:v>Logistics
-0.07</c:v>
                </c:pt>
                <c:pt idx="6">
                  <c:v>Fees
-0.09</c:v>
                </c:pt>
                <c:pt idx="7">
                  <c:v>Net profit
1.75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4.859</c:v>
                </c:pt>
                <c:pt idx="1">
                  <c:v>0</c:v>
                </c:pt>
                <c:pt idx="2">
                  <c:v>2.475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1.754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Deductions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Sales
4.86</c:v>
                </c:pt>
                <c:pt idx="1">
                  <c:v>Cost
-2.38</c:v>
                </c:pt>
                <c:pt idx="2">
                  <c:v>Gross profit
2.48</c:v>
                </c:pt>
                <c:pt idx="3">
                  <c:v>Discounts
-0.42</c:v>
                </c:pt>
                <c:pt idx="4">
                  <c:v>Returns
-0.15</c:v>
                </c:pt>
                <c:pt idx="5">
                  <c:v>Logistics
-0.07</c:v>
                </c:pt>
                <c:pt idx="6">
                  <c:v>Fees
-0.09</c:v>
                </c:pt>
                <c:pt idx="7">
                  <c:v>Net profit
1.75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2.384</c:v>
                </c:pt>
                <c:pt idx="2">
                  <c:v>0</c:v>
                </c:pt>
                <c:pt idx="3">
                  <c:v>0.42</c:v>
                </c:pt>
                <c:pt idx="4">
                  <c:v>0.15</c:v>
                </c:pt>
                <c:pt idx="5">
                  <c:v>0.067</c:v>
                </c:pt>
                <c:pt idx="6">
                  <c:v>0.085</c:v>
                </c:pt>
                <c:pt idx="7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136a9fb-2ec5-42e3-a6f1-ba85845d44ee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approach: JOIN orders to products on product_id; SUM(quantity*selling_price) = revenue, SUM(quantity*cost_price) = cost. Basis: 16,119 valid orders out of 22,000; excluded 1,054 with zero quantity/price, 4,130 cancelled, 697 with non-positive product cost. Net profit = gross profit - discounts - profit lost on returns - logistics - payment fees.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approach: orders JOIN products, GROUP BY category with SUM(quantity*selling_price), SUM(quantity*cost_price) and the difference. 257 products have a blank category, shown here as Uncategorized.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approach: CTE of per-order net profit, then GROUP BY product_id HAVING SUM(net_profit) &lt; 0. Net profit includes discount, return loss, logistics and payment 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approach: discounts grouped by order_id (an order can carry several discount rows), then COUNT(DISTINCT order_id) and SUM(discount_amount) joined to valid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approach: GROUP BY payment_method with COUNT(*) and SUM(quantity*selling_price) on valid orders. INVALID is a data-quality value in the source file and is shown separately rather than dropped.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approach: CASE WHEN discount IS NOT NULL THEN 'Discounted' ELSE 'No discount' END, AVG(revenue - cost - discount_total) per group. Profit here is after discount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approach: returns filtered to return_flag = 'Y' (X and N rows ignored as invalid / not returned), de-duplicated to one row per order, joined to orders. Profit lost = revenue - cost of returned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approach: returns (flag Y, one row per order) JOIN orders, GROUP BY return_reason with COUNT(*) and SUM(revenue); NULL reasons shown as Not Specified.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approach: logistics de-duplicated to one row per order (first record; negative shipping set to 0), then WHERE (shipping_cost + reverse_shipping_cost) &gt; 0.2 * (quantity*selling_price). Total logistics cost across all valid orders is ₹6.7 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approach: orders JOIN payment_fees ON payment_method; fee = revenue * fee_percentage / 100, GROUP BY payment_method. INVALID has no match in the fee table, so its fee is treated as 0 (understated). PAYLATER and NETBANKING exist in the fee table but not in the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approach: per-order CTE with discount, return_loss, logistics and fee columns; GREATEST() / CASE picks the largest factor per order; SUM of each column gives overall leakage. Return loss = gross profit of returned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approach: per-product net profit in a CTE, then RANK() / DENSE_RANK() OVER (ORDER BY net_profit DESC). Pareto share via SUM() OVER (ORDER BY ...) cumulative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approach: margin % = (selling_price - cost_price) / selling_price per order; STDDEV() grouped by category (plus AVG, MIN, MAX). Higher standard deviation means less predictable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approach: per-customer return_rate = returned orders / total orders; compare to marketplace average using a subquery or window AVG; filter customers with 3+ orders and rate &gt;= 2x average to avoid one-order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Consolidated view. Sales ₹4.86 Cr, cost ₹2.38 Cr, gross profit ₹2.48 Cr, discounts ₹42.0 L, returns loss (profit on returned orders) ₹15.0 L (revenue reversed ₹29.2 L), logistics ₹6.7 L, payment fees ₹8.5 L, net profit ₹1.75 Cr. SQL approach: one CTE per leakage source joined on order_id, then a single SELECT with SUM() of each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S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</a:rPr>
              <a:t>Marketplace Revenue Leakage &amp; Gap Analysis  |  Jan–Dec 2024  |  16,119 valid orders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chart" Target="../charts/chart9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chart" Target="../charts/chart1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chart" Target="../charts/chart1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chart" Target="../charts/chart1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chart" Target="../charts/char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1  |  REVENUE VS PROFIT REALIT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1  |  REVENUE VS PROFIT REALITY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Sales of ₹4.86 Cr look strong, but only ₹1.75 Cr survives as net profit</a:t>
            </a:r>
            <a:endParaRPr lang="en-US" sz="2800" dirty="0"/>
          </a:p>
        </p:txBody>
      </p:sp>
      <p:graphicFrame>
        <p:nvGraphicFramePr>
          <p:cNvPr id="6" name="chart-overview"/>
          <p:cNvGraphicFramePr/>
          <p:nvPr/>
        </p:nvGraphicFramePr>
        <p:xfrm>
          <a:off x="457200" y="173736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bullets"/>
          <p:cNvSpPr txBox="1"/>
          <p:nvPr/>
        </p:nvSpPr>
        <p:spPr>
          <a:xfrm>
            <a:off x="7086600" y="1783080"/>
            <a:ext cx="464515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Revenue ₹4.86 Cr</a:t>
            </a:r>
            <a:r>
              <a:rPr lang="en-US" sz="1600" dirty="0">
                <a:solidFill>
                  <a:srgbClr val="3A4A5C"/>
                </a:solidFill>
              </a:rPr>
              <a:t> vs </a:t>
            </a:r>
            <a:r>
              <a:rPr lang="en-US" sz="1600" b="1" dirty="0">
                <a:solidFill>
                  <a:srgbClr val="1B2A41"/>
                </a:solidFill>
              </a:rPr>
              <a:t>cost ₹2.38 Cr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Gross profit ₹2.48 Cr</a:t>
            </a:r>
            <a:r>
              <a:rPr lang="en-US" sz="1600" dirty="0">
                <a:solidFill>
                  <a:srgbClr val="3A4A5C"/>
                </a:solidFill>
              </a:rPr>
              <a:t> (50.9% margin) before any leakage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After discounts, returns, logistics and fees, </a:t>
            </a:r>
            <a:r>
              <a:rPr lang="en-US" sz="1600" b="1" dirty="0">
                <a:solidFill>
                  <a:srgbClr val="1B2A41"/>
                </a:solidFill>
              </a:rPr>
              <a:t>net profit is ₹1.75 Cr</a:t>
            </a:r>
            <a:r>
              <a:rPr lang="en-US" sz="1600" dirty="0">
                <a:solidFill>
                  <a:srgbClr val="3A4A5C"/>
                </a:solidFill>
              </a:rPr>
              <a:t> (36.1%)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Margin gap of </a:t>
            </a:r>
            <a:r>
              <a:rPr lang="en-US" sz="1600" b="1" dirty="0">
                <a:solidFill>
                  <a:srgbClr val="1B2A41"/>
                </a:solidFill>
              </a:rPr>
              <a:t>14.8% points</a:t>
            </a:r>
            <a:r>
              <a:rPr lang="en-US" sz="1600" dirty="0">
                <a:solidFill>
                  <a:srgbClr val="3A4A5C"/>
                </a:solidFill>
              </a:rPr>
              <a:t> is hidden leakage</a:t>
            </a:r>
            <a:endParaRPr lang="en-US" sz="1600" dirty="0"/>
          </a:p>
        </p:txBody>
      </p:sp>
      <p:sp>
        <p:nvSpPr>
          <p:cNvPr id="8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9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</a:rPr>
              <a:t>  </a:t>
            </a:r>
            <a:r>
              <a:rPr lang="en-US" sz="1500" dirty="0">
                <a:solidFill>
                  <a:srgbClr val="FFFFFF"/>
                </a:solidFill>
              </a:rPr>
              <a:t>Healthy gross margin hides a large profit gap, so the next 14 tasks locate where it leaks.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2  |  CATEGORY-WISE SALES &amp; PROF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2  |  CATEGORY-WISE SALES &amp; PROFIT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Electronics leads on sales and profit, but margins sit in a narrow 49.3%–52.2% band</a:t>
            </a:r>
            <a:endParaRPr lang="en-US" sz="2800" dirty="0"/>
          </a:p>
        </p:txBody>
      </p:sp>
      <p:graphicFrame>
        <p:nvGraphicFramePr>
          <p:cNvPr id="6" name="chart-category"/>
          <p:cNvGraphicFramePr/>
          <p:nvPr/>
        </p:nvGraphicFramePr>
        <p:xfrm>
          <a:off x="457200" y="173736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bullets"/>
          <p:cNvSpPr txBox="1"/>
          <p:nvPr/>
        </p:nvSpPr>
        <p:spPr>
          <a:xfrm>
            <a:off x="7086600" y="1783080"/>
            <a:ext cx="464515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Electronics</a:t>
            </a:r>
            <a:r>
              <a:rPr lang="en-US" sz="1600" dirty="0">
                <a:solidFill>
                  <a:srgbClr val="3A4A5C"/>
                </a:solidFill>
              </a:rPr>
              <a:t>: ₹92.2 L sales, ₹47.2 L profit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Fashion</a:t>
            </a:r>
            <a:r>
              <a:rPr lang="en-US" sz="1600" dirty="0">
                <a:solidFill>
                  <a:srgbClr val="3A4A5C"/>
                </a:solidFill>
              </a:rPr>
              <a:t> has #2 sales but the </a:t>
            </a:r>
            <a:r>
              <a:rPr lang="en-US" sz="1600" b="1" dirty="0">
                <a:solidFill>
                  <a:srgbClr val="1B2A41"/>
                </a:solidFill>
              </a:rPr>
              <a:t>lowest margin (49.3%)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Grocery</a:t>
            </a:r>
            <a:r>
              <a:rPr lang="en-US" sz="1600" dirty="0">
                <a:solidFill>
                  <a:srgbClr val="3A4A5C"/>
                </a:solidFill>
              </a:rPr>
              <a:t> has the </a:t>
            </a:r>
            <a:r>
              <a:rPr lang="en-US" sz="1600" b="1" dirty="0">
                <a:solidFill>
                  <a:srgbClr val="1B2A41"/>
                </a:solidFill>
              </a:rPr>
              <a:t>best margin (52.2%)</a:t>
            </a:r>
            <a:r>
              <a:rPr lang="en-US" sz="1600" dirty="0">
                <a:solidFill>
                  <a:srgbClr val="3A4A5C"/>
                </a:solidFill>
              </a:rPr>
              <a:t> on lower sales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14% of sales</a:t>
            </a:r>
            <a:r>
              <a:rPr lang="en-US" sz="1600" dirty="0">
                <a:solidFill>
                  <a:srgbClr val="3A4A5C"/>
                </a:solidFill>
              </a:rPr>
              <a:t> (₹68.0 L) have no category in product data</a:t>
            </a:r>
            <a:endParaRPr lang="en-US" sz="1600" dirty="0"/>
          </a:p>
        </p:txBody>
      </p:sp>
      <p:sp>
        <p:nvSpPr>
          <p:cNvPr id="8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9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</a:rPr>
              <a:t> </a:t>
            </a:r>
            <a:r>
              <a:rPr lang="en-US" sz="1500" dirty="0">
                <a:solidFill>
                  <a:srgbClr val="FFFFFF"/>
                </a:solidFill>
              </a:rPr>
              <a:t>Promote Grocery and Beauty for margin; fix category tagging so 14% of sales are not invisible.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3  |  LOSS-MAKING PRODUC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3  |  LOSS-MAKING PRODUCTS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194 products (11% of the range) lose money, draining ₹6.4 L</a:t>
            </a:r>
            <a:endParaRPr lang="en-US" sz="2800" dirty="0"/>
          </a:p>
        </p:txBody>
      </p:sp>
      <p:sp>
        <p:nvSpPr>
          <p:cNvPr id="6" name="stat-loss-card"/>
          <p:cNvSpPr/>
          <p:nvPr/>
        </p:nvSpPr>
        <p:spPr>
          <a:xfrm>
            <a:off x="457200" y="178308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</p:spPr>
      </p:sp>
      <p:sp>
        <p:nvSpPr>
          <p:cNvPr id="7" name="stat-loss-value"/>
          <p:cNvSpPr txBox="1"/>
          <p:nvPr/>
        </p:nvSpPr>
        <p:spPr>
          <a:xfrm>
            <a:off x="594360" y="1892808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194</a:t>
            </a:r>
            <a:endParaRPr lang="en-US" sz="3000" dirty="0"/>
          </a:p>
        </p:txBody>
      </p:sp>
      <p:sp>
        <p:nvSpPr>
          <p:cNvPr id="8" name="stat-loss-label"/>
          <p:cNvSpPr txBox="1"/>
          <p:nvPr/>
        </p:nvSpPr>
        <p:spPr>
          <a:xfrm>
            <a:off x="594360" y="25374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</a:rPr>
              <a:t>loss-making products</a:t>
            </a:r>
            <a:endParaRPr lang="en-US" sz="1300" dirty="0"/>
          </a:p>
        </p:txBody>
      </p:sp>
      <p:sp>
        <p:nvSpPr>
          <p:cNvPr id="9" name="stat-amt-card"/>
          <p:cNvSpPr/>
          <p:nvPr/>
        </p:nvSpPr>
        <p:spPr>
          <a:xfrm>
            <a:off x="457200" y="333756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</p:spPr>
      </p:sp>
      <p:sp>
        <p:nvSpPr>
          <p:cNvPr id="10" name="stat-amt-value"/>
          <p:cNvSpPr txBox="1"/>
          <p:nvPr/>
        </p:nvSpPr>
        <p:spPr>
          <a:xfrm>
            <a:off x="594360" y="3447288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₹6.4 L</a:t>
            </a:r>
            <a:endParaRPr lang="en-US" sz="3000" dirty="0"/>
          </a:p>
        </p:txBody>
      </p:sp>
      <p:sp>
        <p:nvSpPr>
          <p:cNvPr id="11" name="stat-amt-label"/>
          <p:cNvSpPr txBox="1"/>
          <p:nvPr/>
        </p:nvSpPr>
        <p:spPr>
          <a:xfrm>
            <a:off x="594360" y="409194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</a:rPr>
              <a:t>total net loss</a:t>
            </a:r>
            <a:endParaRPr lang="en-US" sz="1300" dirty="0"/>
          </a:p>
        </p:txBody>
      </p:sp>
      <p:graphicFrame>
        <p:nvGraphicFramePr>
          <p:cNvPr id="12" name="chart-worst"/>
          <p:cNvGraphicFramePr/>
          <p:nvPr/>
        </p:nvGraphicFramePr>
        <p:xfrm>
          <a:off x="2743200" y="1737360"/>
          <a:ext cx="4114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bullets"/>
          <p:cNvSpPr txBox="1"/>
          <p:nvPr/>
        </p:nvSpPr>
        <p:spPr>
          <a:xfrm>
            <a:off x="7086600" y="1783080"/>
            <a:ext cx="464515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194 of 1,728 sold products</a:t>
            </a:r>
            <a:r>
              <a:rPr lang="en-US" sz="1600" dirty="0">
                <a:solidFill>
                  <a:srgbClr val="3A4A5C"/>
                </a:solidFill>
              </a:rPr>
              <a:t> have negative net profit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64</a:t>
            </a:r>
            <a:r>
              <a:rPr lang="en-US" sz="1600" dirty="0">
                <a:solidFill>
                  <a:srgbClr val="3A4A5C"/>
                </a:solidFill>
              </a:rPr>
              <a:t> lose money even before leakage (cost above selling price)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Losses are spread across all categories, led by </a:t>
            </a:r>
            <a:r>
              <a:rPr lang="en-US" sz="1600" b="1" dirty="0">
                <a:solidFill>
                  <a:srgbClr val="1B2A41"/>
                </a:solidFill>
              </a:rPr>
              <a:t>Fashion (39)</a:t>
            </a:r>
            <a:r>
              <a:rPr lang="en-US" sz="1600" dirty="0">
                <a:solidFill>
                  <a:srgbClr val="3A4A5C"/>
                </a:solidFill>
              </a:rPr>
              <a:t> and </a:t>
            </a:r>
            <a:r>
              <a:rPr lang="en-US" sz="1600" b="1" dirty="0">
                <a:solidFill>
                  <a:srgbClr val="1B2A41"/>
                </a:solidFill>
              </a:rPr>
              <a:t>Home (36)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Worst: </a:t>
            </a:r>
            <a:r>
              <a:rPr lang="en-US" sz="1600" b="1" dirty="0">
                <a:solidFill>
                  <a:srgbClr val="1B2A41"/>
                </a:solidFill>
              </a:rPr>
              <a:t>Product 23</a:t>
            </a:r>
            <a:r>
              <a:rPr lang="en-US" sz="1600" dirty="0">
                <a:solidFill>
                  <a:srgbClr val="3A4A5C"/>
                </a:solidFill>
              </a:rPr>
              <a:t> at -₹14,362</a:t>
            </a:r>
            <a:endParaRPr lang="en-US" sz="1600" dirty="0"/>
          </a:p>
        </p:txBody>
      </p:sp>
      <p:sp>
        <p:nvSpPr>
          <p:cNvPr id="14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15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</a:rPr>
              <a:t> </a:t>
            </a:r>
            <a:r>
              <a:rPr lang="en-US" sz="1500" dirty="0">
                <a:solidFill>
                  <a:srgbClr val="FFFFFF"/>
                </a:solidFill>
              </a:rPr>
              <a:t>Reprice or renegotiate supplier cost on the worst SKUs, and delist those that stay negative.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4  |  DISCOUNT USAGE OVER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4  |  DISCOUNT USAGE OVERVIEW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in three orders is discounted, costing ₹42.0 L (8.6% of revenue)</a:t>
            </a:r>
            <a:endParaRPr lang="en-US" sz="2800" dirty="0"/>
          </a:p>
        </p:txBody>
      </p:sp>
      <p:graphicFrame>
        <p:nvGraphicFramePr>
          <p:cNvPr id="6" name="chart-disc-share"/>
          <p:cNvGraphicFramePr/>
          <p:nvPr/>
        </p:nvGraphicFramePr>
        <p:xfrm>
          <a:off x="457200" y="1737360"/>
          <a:ext cx="35661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tat-n-card"/>
          <p:cNvSpPr/>
          <p:nvPr/>
        </p:nvSpPr>
        <p:spPr>
          <a:xfrm>
            <a:off x="4206240" y="178308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</p:spPr>
      </p:sp>
      <p:sp>
        <p:nvSpPr>
          <p:cNvPr id="8" name="stat-n-value"/>
          <p:cNvSpPr txBox="1"/>
          <p:nvPr/>
        </p:nvSpPr>
        <p:spPr>
          <a:xfrm>
            <a:off x="4343400" y="1892808"/>
            <a:ext cx="2377440" cy="571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5,416</a:t>
            </a:r>
            <a:endParaRPr lang="en-US" sz="3000" dirty="0"/>
          </a:p>
        </p:txBody>
      </p:sp>
      <p:sp>
        <p:nvSpPr>
          <p:cNvPr id="9" name="stat-n-label"/>
          <p:cNvSpPr txBox="1"/>
          <p:nvPr/>
        </p:nvSpPr>
        <p:spPr>
          <a:xfrm>
            <a:off x="4343400" y="241173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</a:rPr>
              <a:t>discounted orders</a:t>
            </a:r>
            <a:endParaRPr lang="en-US" sz="1300" dirty="0"/>
          </a:p>
        </p:txBody>
      </p:sp>
      <p:sp>
        <p:nvSpPr>
          <p:cNvPr id="10" name="stat-total-card"/>
          <p:cNvSpPr/>
          <p:nvPr/>
        </p:nvSpPr>
        <p:spPr>
          <a:xfrm>
            <a:off x="4206240" y="306324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</p:spPr>
      </p:sp>
      <p:sp>
        <p:nvSpPr>
          <p:cNvPr id="11" name="stat-total-value"/>
          <p:cNvSpPr txBox="1"/>
          <p:nvPr/>
        </p:nvSpPr>
        <p:spPr>
          <a:xfrm>
            <a:off x="4343400" y="3172968"/>
            <a:ext cx="2377440" cy="571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₹42.0 L</a:t>
            </a:r>
            <a:endParaRPr lang="en-US" sz="3000" dirty="0"/>
          </a:p>
        </p:txBody>
      </p:sp>
      <p:sp>
        <p:nvSpPr>
          <p:cNvPr id="12" name="stat-total-label"/>
          <p:cNvSpPr txBox="1"/>
          <p:nvPr/>
        </p:nvSpPr>
        <p:spPr>
          <a:xfrm>
            <a:off x="4343400" y="369189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</a:rPr>
              <a:t>total discount given</a:t>
            </a:r>
            <a:endParaRPr lang="en-US" sz="1300" dirty="0"/>
          </a:p>
        </p:txBody>
      </p:sp>
      <p:sp>
        <p:nvSpPr>
          <p:cNvPr id="13" name="stat-pct-card"/>
          <p:cNvSpPr/>
          <p:nvPr/>
        </p:nvSpPr>
        <p:spPr>
          <a:xfrm>
            <a:off x="4206240" y="434340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</p:spPr>
      </p:sp>
      <p:sp>
        <p:nvSpPr>
          <p:cNvPr id="14" name="stat-pct-value"/>
          <p:cNvSpPr txBox="1"/>
          <p:nvPr/>
        </p:nvSpPr>
        <p:spPr>
          <a:xfrm>
            <a:off x="4343400" y="4453128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8.6%</a:t>
            </a:r>
            <a:endParaRPr lang="en-US" sz="3000" dirty="0"/>
          </a:p>
        </p:txBody>
      </p:sp>
      <p:sp>
        <p:nvSpPr>
          <p:cNvPr id="15" name="stat-pct-label"/>
          <p:cNvSpPr txBox="1"/>
          <p:nvPr/>
        </p:nvSpPr>
        <p:spPr>
          <a:xfrm>
            <a:off x="4343400" y="4896612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</a:rPr>
              <a:t>of total revenue</a:t>
            </a:r>
            <a:endParaRPr lang="en-US" sz="1300" dirty="0"/>
          </a:p>
        </p:txBody>
      </p:sp>
      <p:sp>
        <p:nvSpPr>
          <p:cNvPr id="16" name="bullets"/>
          <p:cNvSpPr txBox="1"/>
          <p:nvPr/>
        </p:nvSpPr>
        <p:spPr>
          <a:xfrm>
            <a:off x="7086600" y="1783080"/>
            <a:ext cx="464515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5,416 orders (33.6%)</a:t>
            </a:r>
            <a:r>
              <a:rPr lang="en-US" sz="1600" dirty="0">
                <a:solidFill>
                  <a:srgbClr val="3A4A5C"/>
                </a:solidFill>
              </a:rPr>
              <a:t> received a discount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Total discount </a:t>
            </a:r>
            <a:r>
              <a:rPr lang="en-US" sz="1600" b="1" dirty="0">
                <a:solidFill>
                  <a:srgbClr val="1B2A41"/>
                </a:solidFill>
              </a:rPr>
              <a:t>₹42.0 L</a:t>
            </a:r>
            <a:r>
              <a:rPr lang="en-US" sz="1600" dirty="0">
                <a:solidFill>
                  <a:srgbClr val="3A4A5C"/>
                </a:solidFill>
              </a:rPr>
              <a:t>, average </a:t>
            </a:r>
            <a:r>
              <a:rPr lang="en-US" sz="1600" b="1" dirty="0">
                <a:solidFill>
                  <a:srgbClr val="1B2A41"/>
                </a:solidFill>
              </a:rPr>
              <a:t>₹775</a:t>
            </a:r>
            <a:r>
              <a:rPr lang="en-US" sz="1600" dirty="0">
                <a:solidFill>
                  <a:srgbClr val="3A4A5C"/>
                </a:solidFill>
              </a:rPr>
              <a:t> per discounted order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481 orders</a:t>
            </a:r>
            <a:r>
              <a:rPr lang="en-US" sz="1600" dirty="0">
                <a:solidFill>
                  <a:srgbClr val="3A4A5C"/>
                </a:solidFill>
              </a:rPr>
              <a:t> got a discount larger than the order value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Spread evenly across BankOffer, Festival and Coupon, while </a:t>
            </a:r>
            <a:r>
              <a:rPr lang="en-US" sz="1600" b="1" dirty="0">
                <a:solidFill>
                  <a:srgbClr val="1B2A41"/>
                </a:solidFill>
              </a:rPr>
              <a:t>2,298 discount rows have no type</a:t>
            </a:r>
            <a:endParaRPr lang="en-US" sz="1600" dirty="0"/>
          </a:p>
        </p:txBody>
      </p:sp>
      <p:sp>
        <p:nvSpPr>
          <p:cNvPr id="17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18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</a:rPr>
              <a:t> </a:t>
            </a:r>
            <a:r>
              <a:rPr lang="en-US" sz="1500" dirty="0">
                <a:solidFill>
                  <a:srgbClr val="FFFFFF"/>
                </a:solidFill>
              </a:rPr>
              <a:t>Discounting is frequent, not occasional; add a cap (discount must stay below order value).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5  |  PAYMENT METHOD POPULARIT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5  |  PAYMENT METHOD POPULARITY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Payments are evenly split at about 20% each, so no single method dominates</a:t>
            </a:r>
            <a:endParaRPr lang="en-US" sz="2800" dirty="0"/>
          </a:p>
        </p:txBody>
      </p:sp>
      <p:graphicFrame>
        <p:nvGraphicFramePr>
          <p:cNvPr id="6" name="chart-payment"/>
          <p:cNvGraphicFramePr/>
          <p:nvPr/>
        </p:nvGraphicFramePr>
        <p:xfrm>
          <a:off x="457200" y="173736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bullets"/>
          <p:cNvSpPr txBox="1"/>
          <p:nvPr/>
        </p:nvSpPr>
        <p:spPr>
          <a:xfrm>
            <a:off x="7086600" y="1783080"/>
            <a:ext cx="464515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UPI</a:t>
            </a:r>
            <a:r>
              <a:rPr lang="en-US" sz="1600" dirty="0">
                <a:solidFill>
                  <a:srgbClr val="3A4A5C"/>
                </a:solidFill>
              </a:rPr>
              <a:t> leads: 3,237 orders, ₹99.3 L (20.4%)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Wallet, COD and Card follow within </a:t>
            </a:r>
            <a:r>
              <a:rPr lang="en-US" sz="1600" b="1" dirty="0">
                <a:solidFill>
                  <a:srgbClr val="1B2A41"/>
                </a:solidFill>
              </a:rPr>
              <a:t>1 point</a:t>
            </a:r>
            <a:r>
              <a:rPr lang="en-US" sz="1600" dirty="0">
                <a:solidFill>
                  <a:srgbClr val="3A4A5C"/>
                </a:solidFill>
              </a:rPr>
              <a:t> of each other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3,301 orders (20.5% of sales)</a:t>
            </a:r>
            <a:r>
              <a:rPr lang="en-US" sz="1600" dirty="0">
                <a:solidFill>
                  <a:srgbClr val="3A4A5C"/>
                </a:solidFill>
              </a:rPr>
              <a:t> carry an INVALID payment method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COD alone is </a:t>
            </a:r>
            <a:r>
              <a:rPr lang="en-US" sz="1600" b="1" dirty="0">
                <a:solidFill>
                  <a:srgbClr val="1B2A41"/>
                </a:solidFill>
              </a:rPr>
              <a:t>19.8%</a:t>
            </a:r>
            <a:r>
              <a:rPr lang="en-US" sz="1600" dirty="0">
                <a:solidFill>
                  <a:srgbClr val="3A4A5C"/>
                </a:solidFill>
              </a:rPr>
              <a:t> of sales, with the highest fee (3.5%)</a:t>
            </a:r>
            <a:endParaRPr lang="en-US" sz="1600" dirty="0"/>
          </a:p>
        </p:txBody>
      </p:sp>
      <p:sp>
        <p:nvSpPr>
          <p:cNvPr id="8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9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Fix the INVALID payment capture: one in five rupees cannot be tied to a fee or a risk profile.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6  |  DISCOUNT VS PROFIT G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6  |  DISCOUNT VS PROFIT GAP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Discounted orders earn 48% less profit per order (₹789 vs ₹1,521)</a:t>
            </a:r>
            <a:endParaRPr lang="en-US" sz="2800" dirty="0"/>
          </a:p>
        </p:txBody>
      </p:sp>
      <p:graphicFrame>
        <p:nvGraphicFramePr>
          <p:cNvPr id="6" name="chart-disc-profit"/>
          <p:cNvGraphicFramePr/>
          <p:nvPr/>
        </p:nvGraphicFramePr>
        <p:xfrm>
          <a:off x="457200" y="173736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bullets"/>
          <p:cNvSpPr txBox="1"/>
          <p:nvPr/>
        </p:nvSpPr>
        <p:spPr>
          <a:xfrm>
            <a:off x="7086600" y="1783080"/>
            <a:ext cx="464515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Non-discounted: </a:t>
            </a:r>
            <a:r>
              <a:rPr lang="en-US" sz="1600" b="1" dirty="0">
                <a:solidFill>
                  <a:srgbClr val="1B2A41"/>
                </a:solidFill>
              </a:rPr>
              <a:t>₹1,521</a:t>
            </a:r>
            <a:r>
              <a:rPr lang="en-US" sz="1600" dirty="0">
                <a:solidFill>
                  <a:srgbClr val="3A4A5C"/>
                </a:solidFill>
              </a:rPr>
              <a:t> average profit per order (10,703 orders)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Discounted: </a:t>
            </a:r>
            <a:r>
              <a:rPr lang="en-US" sz="1600" b="1" dirty="0">
                <a:solidFill>
                  <a:srgbClr val="1B2A41"/>
                </a:solidFill>
              </a:rPr>
              <a:t>₹789</a:t>
            </a:r>
            <a:r>
              <a:rPr lang="en-US" sz="1600" dirty="0">
                <a:solidFill>
                  <a:srgbClr val="3A4A5C"/>
                </a:solidFill>
              </a:rPr>
              <a:t> per order (5,416 orders)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Before the discount, these orders earn </a:t>
            </a:r>
            <a:r>
              <a:rPr lang="en-US" sz="1600" b="1" dirty="0">
                <a:solidFill>
                  <a:srgbClr val="1B2A41"/>
                </a:solidFill>
              </a:rPr>
              <a:t>₹1,564</a:t>
            </a:r>
            <a:r>
              <a:rPr lang="en-US" sz="1600" dirty="0">
                <a:solidFill>
                  <a:srgbClr val="3A4A5C"/>
                </a:solidFill>
              </a:rPr>
              <a:t>, slightly more than the rest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The discount, not the product, wipes out about </a:t>
            </a:r>
            <a:r>
              <a:rPr lang="en-US" sz="1600" b="1" dirty="0">
                <a:solidFill>
                  <a:srgbClr val="1B2A41"/>
                </a:solidFill>
              </a:rPr>
              <a:t>half</a:t>
            </a:r>
            <a:r>
              <a:rPr lang="en-US" sz="1600" dirty="0">
                <a:solidFill>
                  <a:srgbClr val="3A4A5C"/>
                </a:solidFill>
              </a:rPr>
              <a:t> the profit</a:t>
            </a:r>
            <a:endParaRPr lang="en-US" sz="1600" dirty="0"/>
          </a:p>
        </p:txBody>
      </p:sp>
      <p:sp>
        <p:nvSpPr>
          <p:cNvPr id="8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9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Discounts are not buying profitable volume; they transfer margin to customers.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7  |  RETURN IMPACT ON REVEN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7  |  RETURN IMPACT ON REVENUE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Returns reverse ₹29.2 L of revenue and ₹15.0 L of profit</a:t>
            </a:r>
            <a:endParaRPr lang="en-US" sz="2800" dirty="0"/>
          </a:p>
        </p:txBody>
      </p:sp>
      <p:sp>
        <p:nvSpPr>
          <p:cNvPr id="6" name="stat-n-card"/>
          <p:cNvSpPr/>
          <p:nvPr/>
        </p:nvSpPr>
        <p:spPr>
          <a:xfrm>
            <a:off x="457200" y="1783080"/>
            <a:ext cx="30175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</p:spPr>
      </p:sp>
      <p:sp>
        <p:nvSpPr>
          <p:cNvPr id="7" name="stat-n-value"/>
          <p:cNvSpPr txBox="1"/>
          <p:nvPr/>
        </p:nvSpPr>
        <p:spPr>
          <a:xfrm>
            <a:off x="594360" y="1892808"/>
            <a:ext cx="2743200" cy="845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978</a:t>
            </a:r>
            <a:endParaRPr lang="en-US" sz="3000" dirty="0"/>
          </a:p>
        </p:txBody>
      </p:sp>
      <p:sp>
        <p:nvSpPr>
          <p:cNvPr id="8" name="stat-n-label"/>
          <p:cNvSpPr txBox="1"/>
          <p:nvPr/>
        </p:nvSpPr>
        <p:spPr>
          <a:xfrm>
            <a:off x="594360" y="2713482"/>
            <a:ext cx="2743200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</a:rPr>
              <a:t>returned orders</a:t>
            </a:r>
            <a:endParaRPr lang="en-US" sz="1300" dirty="0"/>
          </a:p>
        </p:txBody>
      </p:sp>
      <p:sp>
        <p:nvSpPr>
          <p:cNvPr id="9" name="stat-rate-card"/>
          <p:cNvSpPr/>
          <p:nvPr/>
        </p:nvSpPr>
        <p:spPr>
          <a:xfrm>
            <a:off x="3611880" y="1783080"/>
            <a:ext cx="32461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</p:spPr>
      </p:sp>
      <p:sp>
        <p:nvSpPr>
          <p:cNvPr id="10" name="stat-rate-value"/>
          <p:cNvSpPr txBox="1"/>
          <p:nvPr/>
        </p:nvSpPr>
        <p:spPr>
          <a:xfrm>
            <a:off x="3749040" y="1892808"/>
            <a:ext cx="2971800" cy="845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6.1%</a:t>
            </a:r>
            <a:endParaRPr lang="en-US" sz="3000" dirty="0"/>
          </a:p>
        </p:txBody>
      </p:sp>
      <p:sp>
        <p:nvSpPr>
          <p:cNvPr id="11" name="stat-rate-label"/>
          <p:cNvSpPr txBox="1"/>
          <p:nvPr/>
        </p:nvSpPr>
        <p:spPr>
          <a:xfrm>
            <a:off x="3749040" y="2713482"/>
            <a:ext cx="2971800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</a:rPr>
              <a:t>return rate (valid orders)</a:t>
            </a:r>
            <a:endParaRPr lang="en-US" sz="1300" dirty="0"/>
          </a:p>
        </p:txBody>
      </p:sp>
      <p:sp>
        <p:nvSpPr>
          <p:cNvPr id="12" name="stat-rev-card"/>
          <p:cNvSpPr/>
          <p:nvPr/>
        </p:nvSpPr>
        <p:spPr>
          <a:xfrm>
            <a:off x="457200" y="3657600"/>
            <a:ext cx="30175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</p:spPr>
      </p:sp>
      <p:sp>
        <p:nvSpPr>
          <p:cNvPr id="13" name="stat-rev-value"/>
          <p:cNvSpPr txBox="1"/>
          <p:nvPr/>
        </p:nvSpPr>
        <p:spPr>
          <a:xfrm>
            <a:off x="594360" y="3767328"/>
            <a:ext cx="2743200" cy="845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₹29.2 L</a:t>
            </a:r>
            <a:endParaRPr lang="en-US" sz="3000" dirty="0"/>
          </a:p>
        </p:txBody>
      </p:sp>
      <p:sp>
        <p:nvSpPr>
          <p:cNvPr id="14" name="stat-rev-label"/>
          <p:cNvSpPr txBox="1"/>
          <p:nvPr/>
        </p:nvSpPr>
        <p:spPr>
          <a:xfrm>
            <a:off x="594360" y="4588002"/>
            <a:ext cx="2743200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</a:rPr>
              <a:t>revenue lost</a:t>
            </a:r>
            <a:endParaRPr lang="en-US" sz="1300" dirty="0"/>
          </a:p>
        </p:txBody>
      </p:sp>
      <p:sp>
        <p:nvSpPr>
          <p:cNvPr id="15" name="stat-gp-card"/>
          <p:cNvSpPr/>
          <p:nvPr/>
        </p:nvSpPr>
        <p:spPr>
          <a:xfrm>
            <a:off x="3611880" y="3657600"/>
            <a:ext cx="32461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</p:spPr>
      </p:sp>
      <p:sp>
        <p:nvSpPr>
          <p:cNvPr id="16" name="stat-gp-value"/>
          <p:cNvSpPr txBox="1"/>
          <p:nvPr/>
        </p:nvSpPr>
        <p:spPr>
          <a:xfrm>
            <a:off x="3749040" y="3767328"/>
            <a:ext cx="2971800" cy="845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₹15.0 L</a:t>
            </a:r>
            <a:endParaRPr lang="en-US" sz="3000" dirty="0"/>
          </a:p>
        </p:txBody>
      </p:sp>
      <p:sp>
        <p:nvSpPr>
          <p:cNvPr id="17" name="stat-gp-label"/>
          <p:cNvSpPr txBox="1"/>
          <p:nvPr/>
        </p:nvSpPr>
        <p:spPr>
          <a:xfrm>
            <a:off x="3749040" y="4588002"/>
            <a:ext cx="2971800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</a:rPr>
              <a:t>profit lost</a:t>
            </a:r>
            <a:endParaRPr lang="en-US" sz="1300" dirty="0"/>
          </a:p>
        </p:txBody>
      </p:sp>
      <p:sp>
        <p:nvSpPr>
          <p:cNvPr id="18" name="bullets"/>
          <p:cNvSpPr txBox="1"/>
          <p:nvPr/>
        </p:nvSpPr>
        <p:spPr>
          <a:xfrm>
            <a:off x="7086600" y="1783080"/>
            <a:ext cx="464515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978 orders</a:t>
            </a:r>
            <a:r>
              <a:rPr lang="en-US" sz="1600" dirty="0">
                <a:solidFill>
                  <a:srgbClr val="3A4A5C"/>
                </a:solidFill>
              </a:rPr>
              <a:t> were returned (</a:t>
            </a:r>
            <a:r>
              <a:rPr lang="en-US" sz="1600" b="1" dirty="0">
                <a:solidFill>
                  <a:srgbClr val="1B2A41"/>
                </a:solidFill>
              </a:rPr>
              <a:t>6.1%</a:t>
            </a:r>
            <a:r>
              <a:rPr lang="en-US" sz="1600" dirty="0">
                <a:solidFill>
                  <a:srgbClr val="3A4A5C"/>
                </a:solidFill>
              </a:rPr>
              <a:t> of valid orders)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Revenue reversed: </a:t>
            </a:r>
            <a:r>
              <a:rPr lang="en-US" sz="1600" b="1" dirty="0">
                <a:solidFill>
                  <a:srgbClr val="1B2A41"/>
                </a:solidFill>
              </a:rPr>
              <a:t>₹29.2 L</a:t>
            </a:r>
            <a:r>
              <a:rPr lang="en-US" sz="1600" dirty="0">
                <a:solidFill>
                  <a:srgbClr val="3A4A5C"/>
                </a:solidFill>
              </a:rPr>
              <a:t> (6.0% of sales)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Profit lost: </a:t>
            </a:r>
            <a:r>
              <a:rPr lang="en-US" sz="1600" b="1" dirty="0">
                <a:solidFill>
                  <a:srgbClr val="1B2A41"/>
                </a:solidFill>
              </a:rPr>
              <a:t>₹15.0 L</a:t>
            </a:r>
            <a:r>
              <a:rPr lang="en-US" sz="1600" dirty="0">
                <a:solidFill>
                  <a:srgbClr val="3A4A5C"/>
                </a:solidFill>
              </a:rPr>
              <a:t> (6.1% of gross profit)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Returned orders still pay shipping and gateway fees, so the real loss is higher</a:t>
            </a:r>
            <a:endParaRPr lang="en-US" sz="1600" dirty="0"/>
          </a:p>
        </p:txBody>
      </p:sp>
      <p:sp>
        <p:nvSpPr>
          <p:cNvPr id="19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20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</a:rPr>
              <a:t> </a:t>
            </a:r>
            <a:r>
              <a:rPr lang="en-US" sz="1500" dirty="0">
                <a:solidFill>
                  <a:srgbClr val="FFFFFF"/>
                </a:solidFill>
              </a:rPr>
              <a:t>At about 6% of sales, returns are a steady leak rather than a crisis; target the repeat offenders.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8  |  RETURN REASON ANALYS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8  |  RETURN REASON ANALYSIS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Quality, damage and wrong-item returns are 50% of the loss, and all are fixable</a:t>
            </a:r>
            <a:endParaRPr lang="en-US" sz="2800" dirty="0"/>
          </a:p>
        </p:txBody>
      </p:sp>
      <p:graphicFrame>
        <p:nvGraphicFramePr>
          <p:cNvPr id="6" name="chart-reasons"/>
          <p:cNvGraphicFramePr/>
          <p:nvPr/>
        </p:nvGraphicFramePr>
        <p:xfrm>
          <a:off x="457200" y="173736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bullets"/>
          <p:cNvSpPr txBox="1"/>
          <p:nvPr/>
        </p:nvSpPr>
        <p:spPr>
          <a:xfrm>
            <a:off x="7086600" y="1783080"/>
            <a:ext cx="464515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Losses are </a:t>
            </a:r>
            <a:r>
              <a:rPr lang="en-US" sz="1600" b="1" dirty="0">
                <a:solidFill>
                  <a:srgbClr val="1B2A41"/>
                </a:solidFill>
              </a:rPr>
              <a:t>evenly spread</a:t>
            </a:r>
            <a:r>
              <a:rPr lang="en-US" sz="1600" dirty="0">
                <a:solidFill>
                  <a:srgbClr val="3A4A5C"/>
                </a:solidFill>
              </a:rPr>
              <a:t> across reasons (₹4.8 L to ₹5.1 L)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Quality Issue</a:t>
            </a:r>
            <a:r>
              <a:rPr lang="en-US" sz="1600" dirty="0">
                <a:solidFill>
                  <a:srgbClr val="3A4A5C"/>
                </a:solidFill>
              </a:rPr>
              <a:t> is the top stated reason: ₹4.9 L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Quality + Damaged + Wrong Item = </a:t>
            </a:r>
            <a:r>
              <a:rPr lang="en-US" sz="1600" b="1" dirty="0">
                <a:solidFill>
                  <a:srgbClr val="1B2A41"/>
                </a:solidFill>
              </a:rPr>
              <a:t>₹14.5 L</a:t>
            </a:r>
            <a:r>
              <a:rPr lang="en-US" sz="1600" dirty="0">
                <a:solidFill>
                  <a:srgbClr val="3A4A5C"/>
                </a:solidFill>
              </a:rPr>
              <a:t> of controllable loss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168 returns (₹5.1 L)</a:t>
            </a:r>
            <a:r>
              <a:rPr lang="en-US" sz="1600" dirty="0">
                <a:solidFill>
                  <a:srgbClr val="3A4A5C"/>
                </a:solidFill>
              </a:rPr>
              <a:t> have no reason recorded</a:t>
            </a:r>
            <a:endParaRPr lang="en-US" sz="1600" dirty="0"/>
          </a:p>
        </p:txBody>
      </p:sp>
      <p:sp>
        <p:nvSpPr>
          <p:cNvPr id="8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9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Tighten QC, packaging and order picking first, and make return reason mandatory.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9  |  LOGISTICS COST BU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9  |  LOGISTICS COST BURDEN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275 orders cost over 20% of their value to ship, and they are tiny baskets</a:t>
            </a:r>
            <a:endParaRPr lang="en-US" sz="2800" dirty="0"/>
          </a:p>
        </p:txBody>
      </p:sp>
      <p:sp>
        <p:nvSpPr>
          <p:cNvPr id="6" name="stat-n-card"/>
          <p:cNvSpPr/>
          <p:nvPr/>
        </p:nvSpPr>
        <p:spPr>
          <a:xfrm>
            <a:off x="457200" y="1783080"/>
            <a:ext cx="30175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</p:spPr>
      </p:sp>
      <p:sp>
        <p:nvSpPr>
          <p:cNvPr id="7" name="stat-n-value"/>
          <p:cNvSpPr txBox="1"/>
          <p:nvPr/>
        </p:nvSpPr>
        <p:spPr>
          <a:xfrm>
            <a:off x="594360" y="189280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275</a:t>
            </a:r>
            <a:endParaRPr lang="en-US" sz="3000" dirty="0"/>
          </a:p>
        </p:txBody>
      </p:sp>
      <p:sp>
        <p:nvSpPr>
          <p:cNvPr id="8" name="stat-n-label"/>
          <p:cNvSpPr txBox="1"/>
          <p:nvPr/>
        </p:nvSpPr>
        <p:spPr>
          <a:xfrm>
            <a:off x="594360" y="2386584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</a:rPr>
              <a:t>orders above 20% logistics</a:t>
            </a:r>
            <a:endParaRPr lang="en-US" sz="1300" dirty="0"/>
          </a:p>
        </p:txBody>
      </p:sp>
      <p:sp>
        <p:nvSpPr>
          <p:cNvPr id="9" name="stat-aov-card"/>
          <p:cNvSpPr/>
          <p:nvPr/>
        </p:nvSpPr>
        <p:spPr>
          <a:xfrm>
            <a:off x="3611880" y="1783080"/>
            <a:ext cx="32461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</p:spPr>
      </p:sp>
      <p:sp>
        <p:nvSpPr>
          <p:cNvPr id="10" name="stat-aov-value"/>
          <p:cNvSpPr txBox="1"/>
          <p:nvPr/>
        </p:nvSpPr>
        <p:spPr>
          <a:xfrm>
            <a:off x="3749040" y="1892808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₹440</a:t>
            </a:r>
            <a:endParaRPr lang="en-US" sz="3000" dirty="0"/>
          </a:p>
        </p:txBody>
      </p:sp>
      <p:sp>
        <p:nvSpPr>
          <p:cNvPr id="11" name="stat-aov-label"/>
          <p:cNvSpPr txBox="1"/>
          <p:nvPr/>
        </p:nvSpPr>
        <p:spPr>
          <a:xfrm>
            <a:off x="3749040" y="2386584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</a:rPr>
              <a:t>avg order value (all: ₹3,015)</a:t>
            </a:r>
            <a:endParaRPr lang="en-US" sz="1300" dirty="0"/>
          </a:p>
        </p:txBody>
      </p:sp>
      <p:graphicFrame>
        <p:nvGraphicFramePr>
          <p:cNvPr id="12" name="chart-logi-cat"/>
          <p:cNvGraphicFramePr/>
          <p:nvPr/>
        </p:nvGraphicFramePr>
        <p:xfrm>
          <a:off x="457200" y="3017520"/>
          <a:ext cx="6400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bullets"/>
          <p:cNvSpPr txBox="1"/>
          <p:nvPr/>
        </p:nvSpPr>
        <p:spPr>
          <a:xfrm>
            <a:off x="7086600" y="1783080"/>
            <a:ext cx="464515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275 orders (1.7%)</a:t>
            </a:r>
            <a:r>
              <a:rPr lang="en-US" sz="1600" dirty="0">
                <a:solidFill>
                  <a:srgbClr val="3A4A5C"/>
                </a:solidFill>
              </a:rPr>
              <a:t> have shipping + reverse shipping above 20% of order value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Their average order value is only </a:t>
            </a:r>
            <a:r>
              <a:rPr lang="en-US" sz="1600" b="1" dirty="0">
                <a:solidFill>
                  <a:srgbClr val="1B2A41"/>
                </a:solidFill>
              </a:rPr>
              <a:t>₹440</a:t>
            </a:r>
            <a:r>
              <a:rPr lang="en-US" sz="1600" dirty="0">
                <a:solidFill>
                  <a:srgbClr val="3A4A5C"/>
                </a:solidFill>
              </a:rPr>
              <a:t> vs </a:t>
            </a:r>
            <a:r>
              <a:rPr lang="en-US" sz="1600" b="1" dirty="0">
                <a:solidFill>
                  <a:srgbClr val="1B2A41"/>
                </a:solidFill>
              </a:rPr>
              <a:t>₹3,015</a:t>
            </a:r>
            <a:r>
              <a:rPr lang="en-US" sz="1600" dirty="0">
                <a:solidFill>
                  <a:srgbClr val="3A4A5C"/>
                </a:solidFill>
              </a:rPr>
              <a:t> overall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Spread across all categories (</a:t>
            </a:r>
            <a:r>
              <a:rPr lang="en-US" sz="1600" b="1" dirty="0">
                <a:solidFill>
                  <a:srgbClr val="1B2A41"/>
                </a:solidFill>
              </a:rPr>
              <a:t>1.5%–2.0%</a:t>
            </a:r>
            <a:r>
              <a:rPr lang="en-US" sz="1600" dirty="0">
                <a:solidFill>
                  <a:srgbClr val="3A4A5C"/>
                </a:solidFill>
              </a:rPr>
              <a:t> of each), so it is an order-size issue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Logistics on these orders: </a:t>
            </a:r>
            <a:r>
              <a:rPr lang="en-US" sz="1600" b="1" dirty="0">
                <a:solidFill>
                  <a:srgbClr val="1B2A41"/>
                </a:solidFill>
              </a:rPr>
              <a:t>₹35,975</a:t>
            </a:r>
            <a:endParaRPr lang="en-US" sz="1600" dirty="0"/>
          </a:p>
        </p:txBody>
      </p:sp>
      <p:sp>
        <p:nvSpPr>
          <p:cNvPr id="14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15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</a:rPr>
              <a:t> </a:t>
            </a:r>
            <a:r>
              <a:rPr lang="en-US" sz="1500" dirty="0">
                <a:solidFill>
                  <a:srgbClr val="FFFFFF"/>
                </a:solidFill>
              </a:rPr>
              <a:t>Set a minimum order value or a shipping fee for baskets under about ₹500.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10  |  PAYMENT FEE LEAK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10  |  PAYMENT FEE LEAKAGE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Gateways take ₹8.5 L in fees, and COD alone pays 40% of it</a:t>
            </a:r>
            <a:endParaRPr lang="en-US" sz="2800" dirty="0"/>
          </a:p>
        </p:txBody>
      </p:sp>
      <p:graphicFrame>
        <p:nvGraphicFramePr>
          <p:cNvPr id="6" name="chart-fees"/>
          <p:cNvGraphicFramePr/>
          <p:nvPr/>
        </p:nvGraphicFramePr>
        <p:xfrm>
          <a:off x="457200" y="173736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bullets"/>
          <p:cNvSpPr txBox="1"/>
          <p:nvPr/>
        </p:nvSpPr>
        <p:spPr>
          <a:xfrm>
            <a:off x="7086600" y="1783080"/>
            <a:ext cx="464515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COD ₹3.4 L</a:t>
            </a:r>
            <a:r>
              <a:rPr lang="en-US" sz="1600" dirty="0">
                <a:solidFill>
                  <a:srgbClr val="3A4A5C"/>
                </a:solidFill>
              </a:rPr>
              <a:t> at 3.5% is the costliest; </a:t>
            </a:r>
            <a:r>
              <a:rPr lang="en-US" sz="1600" b="1" dirty="0">
                <a:solidFill>
                  <a:srgbClr val="1B2A41"/>
                </a:solidFill>
              </a:rPr>
              <a:t>UPI ₹1.2 L</a:t>
            </a:r>
            <a:r>
              <a:rPr lang="en-US" sz="1600" dirty="0">
                <a:solidFill>
                  <a:srgbClr val="3A4A5C"/>
                </a:solidFill>
              </a:rPr>
              <a:t> at 1.2% the cheapest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Net profit after fees: </a:t>
            </a:r>
            <a:r>
              <a:rPr lang="en-US" sz="1600" b="1" dirty="0">
                <a:solidFill>
                  <a:srgbClr val="1B2A41"/>
                </a:solidFill>
              </a:rPr>
              <a:t>UPI ₹37.2 L</a:t>
            </a:r>
            <a:r>
              <a:rPr lang="en-US" sz="1600" dirty="0">
                <a:solidFill>
                  <a:srgbClr val="3A4A5C"/>
                </a:solidFill>
              </a:rPr>
              <a:t> vs </a:t>
            </a:r>
            <a:r>
              <a:rPr lang="en-US" sz="1600" b="1" dirty="0">
                <a:solidFill>
                  <a:srgbClr val="1B2A41"/>
                </a:solidFill>
              </a:rPr>
              <a:t>COD ₹32.0 L</a:t>
            </a:r>
            <a:r>
              <a:rPr lang="en-US" sz="1600" dirty="0">
                <a:solidFill>
                  <a:srgbClr val="3A4A5C"/>
                </a:solidFill>
              </a:rPr>
              <a:t> on similar sales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Moving COD orders to UPI would save about </a:t>
            </a:r>
            <a:r>
              <a:rPr lang="en-US" sz="1600" b="1" dirty="0">
                <a:solidFill>
                  <a:srgbClr val="1B2A41"/>
                </a:solidFill>
              </a:rPr>
              <a:t>₹2.2 L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INVALID orders (₹99.8 L sales) carry </a:t>
            </a:r>
            <a:r>
              <a:rPr lang="en-US" sz="1600" b="1" dirty="0">
                <a:solidFill>
                  <a:srgbClr val="1B2A41"/>
                </a:solidFill>
              </a:rPr>
              <a:t>no fee</a:t>
            </a:r>
            <a:r>
              <a:rPr lang="en-US" sz="1600" dirty="0">
                <a:solidFill>
                  <a:srgbClr val="3A4A5C"/>
                </a:solidFill>
              </a:rPr>
              <a:t>, so true fees are higher</a:t>
            </a:r>
            <a:endParaRPr lang="en-US" sz="1600" dirty="0"/>
          </a:p>
        </p:txBody>
      </p:sp>
      <p:sp>
        <p:nvSpPr>
          <p:cNvPr id="8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9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</a:rPr>
              <a:t> </a:t>
            </a:r>
            <a:r>
              <a:rPr lang="en-US" sz="1500" dirty="0">
                <a:solidFill>
                  <a:srgbClr val="FFFFFF"/>
                </a:solidFill>
              </a:rPr>
              <a:t>Nudge customers from COD and Card to UPI with small incentives, and fix INVALID capture.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11  |  REVENUE LEAKAGE BREAKDOW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11  |  REVENUE LEAKAGE BREAKDOWN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Discounts are the biggest leak at 58% of the ₹72.2 L total leakage</a:t>
            </a:r>
            <a:endParaRPr lang="en-US" sz="2800" dirty="0"/>
          </a:p>
        </p:txBody>
      </p:sp>
      <p:graphicFrame>
        <p:nvGraphicFramePr>
          <p:cNvPr id="6" name="chart-leakage"/>
          <p:cNvGraphicFramePr/>
          <p:nvPr/>
        </p:nvGraphicFramePr>
        <p:xfrm>
          <a:off x="457200" y="173736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bullets"/>
          <p:cNvSpPr txBox="1"/>
          <p:nvPr/>
        </p:nvSpPr>
        <p:spPr>
          <a:xfrm>
            <a:off x="7086600" y="1783080"/>
            <a:ext cx="464515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Discounts ₹42.0 L</a:t>
            </a:r>
            <a:r>
              <a:rPr lang="en-US" sz="1600" dirty="0">
                <a:solidFill>
                  <a:srgbClr val="3A4A5C"/>
                </a:solidFill>
              </a:rPr>
              <a:t> (58%)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Returns ₹15.0 L</a:t>
            </a:r>
            <a:r>
              <a:rPr lang="en-US" sz="1600" dirty="0">
                <a:solidFill>
                  <a:srgbClr val="3A4A5C"/>
                </a:solidFill>
              </a:rPr>
              <a:t> (21%), then </a:t>
            </a:r>
            <a:r>
              <a:rPr lang="en-US" sz="1600" b="1" dirty="0">
                <a:solidFill>
                  <a:srgbClr val="1B2A41"/>
                </a:solidFill>
              </a:rPr>
              <a:t>fees ₹8.5 L</a:t>
            </a:r>
            <a:r>
              <a:rPr lang="en-US" sz="1600" dirty="0">
                <a:solidFill>
                  <a:srgbClr val="3A4A5C"/>
                </a:solidFill>
              </a:rPr>
              <a:t> and </a:t>
            </a:r>
            <a:r>
              <a:rPr lang="en-US" sz="1600" b="1" dirty="0">
                <a:solidFill>
                  <a:srgbClr val="1B2A41"/>
                </a:solidFill>
              </a:rPr>
              <a:t>logistics ₹6.7 L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Discounts are the top leak in </a:t>
            </a:r>
            <a:r>
              <a:rPr lang="en-US" sz="1600" b="1" dirty="0">
                <a:solidFill>
                  <a:srgbClr val="1B2A41"/>
                </a:solidFill>
              </a:rPr>
              <a:t>5,926 orders</a:t>
            </a:r>
            <a:r>
              <a:rPr lang="en-US" sz="1600" dirty="0">
                <a:solidFill>
                  <a:srgbClr val="3A4A5C"/>
                </a:solidFill>
              </a:rPr>
              <a:t>; fees in 5,708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Returns hit fewer orders (751) but hit hard</a:t>
            </a:r>
            <a:endParaRPr lang="en-US" sz="1600" dirty="0"/>
          </a:p>
        </p:txBody>
      </p:sp>
      <p:sp>
        <p:nvSpPr>
          <p:cNvPr id="8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9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Discounts leak more than returns, fees and logistics combined, so fix discount policy first.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12  |  PRODUCT PROFIT RANK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12  |  PRODUCT PROFIT RANKING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Profit is broad-based: the top 20% of products earn 46%, not 80%</a:t>
            </a:r>
            <a:endParaRPr lang="en-US" sz="2800" dirty="0"/>
          </a:p>
        </p:txBody>
      </p:sp>
      <p:graphicFrame>
        <p:nvGraphicFramePr>
          <p:cNvPr id="6" name="chart-top10"/>
          <p:cNvGraphicFramePr/>
          <p:nvPr/>
        </p:nvGraphicFramePr>
        <p:xfrm>
          <a:off x="457200" y="173736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bullets"/>
          <p:cNvSpPr txBox="1"/>
          <p:nvPr/>
        </p:nvSpPr>
        <p:spPr>
          <a:xfrm>
            <a:off x="7086600" y="1783080"/>
            <a:ext cx="464515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1,534 of 1,728 products</a:t>
            </a:r>
            <a:r>
              <a:rPr lang="en-US" sz="1600" dirty="0">
                <a:solidFill>
                  <a:srgbClr val="3A4A5C"/>
                </a:solidFill>
              </a:rPr>
              <a:t> are profitable after leakage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Top 20% (346 products) deliver </a:t>
            </a:r>
            <a:r>
              <a:rPr lang="en-US" sz="1600" b="1" dirty="0">
                <a:solidFill>
                  <a:srgbClr val="1B2A41"/>
                </a:solidFill>
              </a:rPr>
              <a:t>46%</a:t>
            </a:r>
            <a:r>
              <a:rPr lang="en-US" sz="1600" dirty="0">
                <a:solidFill>
                  <a:srgbClr val="3A4A5C"/>
                </a:solidFill>
              </a:rPr>
              <a:t> of positive net profit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Best: </a:t>
            </a:r>
            <a:r>
              <a:rPr lang="en-US" sz="1600" b="1" dirty="0">
                <a:solidFill>
                  <a:srgbClr val="1B2A41"/>
                </a:solidFill>
              </a:rPr>
              <a:t>Product 124 (Grocery)</a:t>
            </a:r>
            <a:r>
              <a:rPr lang="en-US" sz="1600" dirty="0">
                <a:solidFill>
                  <a:srgbClr val="3A4A5C"/>
                </a:solidFill>
              </a:rPr>
              <a:t> with ₹48,158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Top 10 together are just </a:t>
            </a:r>
            <a:r>
              <a:rPr lang="en-US" sz="1600" b="1" dirty="0">
                <a:solidFill>
                  <a:srgbClr val="1B2A41"/>
                </a:solidFill>
              </a:rPr>
              <a:t>2.4%</a:t>
            </a:r>
            <a:r>
              <a:rPr lang="en-US" sz="1600" dirty="0">
                <a:solidFill>
                  <a:srgbClr val="3A4A5C"/>
                </a:solidFill>
              </a:rPr>
              <a:t>, so there is no hero SKU</a:t>
            </a:r>
            <a:endParaRPr lang="en-US" sz="1600" dirty="0"/>
          </a:p>
        </p:txBody>
      </p:sp>
      <p:sp>
        <p:nvSpPr>
          <p:cNvPr id="8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9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Protect stock and ad spend on the top 20%, but do not rely on a few heroes.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13  |  CATEGORY MARGIN STABILIT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13  |  CATEGORY MARGIN STABILITY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Margins swing wildly in every category, with Fashion the least stable</a:t>
            </a:r>
            <a:endParaRPr lang="en-US" sz="2800" dirty="0"/>
          </a:p>
        </p:txBody>
      </p:sp>
      <p:graphicFrame>
        <p:nvGraphicFramePr>
          <p:cNvPr id="6" name="chart-stability"/>
          <p:cNvGraphicFramePr/>
          <p:nvPr/>
        </p:nvGraphicFramePr>
        <p:xfrm>
          <a:off x="457200" y="173736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bullets"/>
          <p:cNvSpPr txBox="1"/>
          <p:nvPr/>
        </p:nvSpPr>
        <p:spPr>
          <a:xfrm>
            <a:off x="7086600" y="1783080"/>
            <a:ext cx="464515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Order-level margin spread (std. dev.): </a:t>
            </a:r>
            <a:r>
              <a:rPr lang="en-US" sz="1600" b="1" dirty="0">
                <a:solidFill>
                  <a:srgbClr val="1B2A41"/>
                </a:solidFill>
              </a:rPr>
              <a:t>Fashion 62 pts</a:t>
            </a:r>
            <a:r>
              <a:rPr lang="en-US" sz="1600" dirty="0">
                <a:solidFill>
                  <a:srgbClr val="3A4A5C"/>
                </a:solidFill>
              </a:rPr>
              <a:t>, Beauty lowest at 59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The gap between categories is small, so </a:t>
            </a:r>
            <a:r>
              <a:rPr lang="en-US" sz="1600" b="1" dirty="0">
                <a:solidFill>
                  <a:srgbClr val="1B2A41"/>
                </a:solidFill>
              </a:rPr>
              <a:t>instability is marketplace-wide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18.6% of orders (2,997)</a:t>
            </a:r>
            <a:r>
              <a:rPr lang="en-US" sz="1600" dirty="0">
                <a:solidFill>
                  <a:srgbClr val="3A4A5C"/>
                </a:solidFill>
              </a:rPr>
              <a:t> sell below cost price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Order margins range from about </a:t>
            </a:r>
            <a:r>
              <a:rPr lang="en-US" sz="1600" b="1" dirty="0">
                <a:solidFill>
                  <a:srgbClr val="1B2A41"/>
                </a:solidFill>
              </a:rPr>
              <a:t>-340% to +95%</a:t>
            </a:r>
            <a:endParaRPr lang="en-US" sz="1600" dirty="0"/>
          </a:p>
        </p:txBody>
      </p:sp>
      <p:sp>
        <p:nvSpPr>
          <p:cNvPr id="8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9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Introduce price floors (selling price above cost) before chasing category-level fixes.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14  |  HIGH-RISK CUSTOM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14  |  HIGH-RISK CUSTOMERS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463 repeat customers drive 52% of all returns</a:t>
            </a:r>
            <a:endParaRPr lang="en-US" sz="2800" dirty="0"/>
          </a:p>
        </p:txBody>
      </p:sp>
      <p:graphicFrame>
        <p:nvGraphicFramePr>
          <p:cNvPr id="6" name="chart-risk"/>
          <p:cNvGraphicFramePr/>
          <p:nvPr/>
        </p:nvGraphicFramePr>
        <p:xfrm>
          <a:off x="457200" y="173736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bullets"/>
          <p:cNvSpPr txBox="1"/>
          <p:nvPr/>
        </p:nvSpPr>
        <p:spPr>
          <a:xfrm>
            <a:off x="7086600" y="1783080"/>
            <a:ext cx="464515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Marketplace return rate is </a:t>
            </a:r>
            <a:r>
              <a:rPr lang="en-US" sz="1600" b="1" dirty="0">
                <a:solidFill>
                  <a:srgbClr val="1B2A41"/>
                </a:solidFill>
              </a:rPr>
              <a:t>6.1%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463 customers</a:t>
            </a:r>
            <a:r>
              <a:rPr lang="en-US" sz="1600" dirty="0">
                <a:solidFill>
                  <a:srgbClr val="3A4A5C"/>
                </a:solidFill>
              </a:rPr>
              <a:t> (3+ orders, return rate at least 2x average) cause </a:t>
            </a:r>
            <a:r>
              <a:rPr lang="en-US" sz="1600" b="1" dirty="0">
                <a:solidFill>
                  <a:srgbClr val="1B2A41"/>
                </a:solidFill>
              </a:rPr>
              <a:t>513 returns</a:t>
            </a:r>
            <a:r>
              <a:rPr lang="en-US" sz="1600" dirty="0">
                <a:solidFill>
                  <a:srgbClr val="3A4A5C"/>
                </a:solidFill>
              </a:rPr>
              <a:t> and ₹15.0 L of reversed revenue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</a:rPr>
              <a:t>191 customers</a:t>
            </a:r>
            <a:r>
              <a:rPr lang="en-US" sz="1600" dirty="0">
                <a:solidFill>
                  <a:srgbClr val="3A4A5C"/>
                </a:solidFill>
              </a:rPr>
              <a:t> return more than half of what they buy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A5C"/>
                </a:solidFill>
              </a:rPr>
              <a:t>Only 919 of 7,498 customers have returned anything</a:t>
            </a:r>
            <a:endParaRPr lang="en-US" sz="1600" dirty="0"/>
          </a:p>
        </p:txBody>
      </p:sp>
      <p:sp>
        <p:nvSpPr>
          <p:cNvPr id="8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9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Apply return limits or flags for repeat returners instead of tightening policy for everyone.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" name="badge-icon" descr="TASK 15  |  EXECUTIVE PROFITABILITY SUMM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57784"/>
            <a:ext cx="310896" cy="310896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1325880" y="347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TASK 15  |  EXECUTIVE PROFITABILITY SUMMARY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1325880" y="64008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is profit lower than expected? Leakage eats 29% of gross profit</a:t>
            </a:r>
            <a:endParaRPr lang="en-US" sz="2800" dirty="0"/>
          </a:p>
        </p:txBody>
      </p:sp>
      <p:graphicFrame>
        <p:nvGraphicFramePr>
          <p:cNvPr id="6" name="chart-waterfall"/>
          <p:cNvGraphicFramePr/>
          <p:nvPr/>
        </p:nvGraphicFramePr>
        <p:xfrm>
          <a:off x="457200" y="1737360"/>
          <a:ext cx="640080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um-card-0"/>
          <p:cNvSpPr/>
          <p:nvPr/>
        </p:nvSpPr>
        <p:spPr>
          <a:xfrm>
            <a:off x="7086600" y="1737360"/>
            <a:ext cx="22402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</p:spPr>
      </p:sp>
      <p:sp>
        <p:nvSpPr>
          <p:cNvPr id="8" name="sum-val-0"/>
          <p:cNvSpPr txBox="1"/>
          <p:nvPr/>
        </p:nvSpPr>
        <p:spPr>
          <a:xfrm>
            <a:off x="7196328" y="1792224"/>
            <a:ext cx="202082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₹4.86 Cr</a:t>
            </a:r>
            <a:endParaRPr lang="en-US" sz="2200" dirty="0"/>
          </a:p>
        </p:txBody>
      </p:sp>
      <p:sp>
        <p:nvSpPr>
          <p:cNvPr id="9" name="sum-lbl-0"/>
          <p:cNvSpPr txBox="1"/>
          <p:nvPr/>
        </p:nvSpPr>
        <p:spPr>
          <a:xfrm>
            <a:off x="7196328" y="2194560"/>
            <a:ext cx="202082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</a:rPr>
              <a:t>Total sales</a:t>
            </a:r>
            <a:endParaRPr lang="en-US" sz="1200" dirty="0"/>
          </a:p>
        </p:txBody>
      </p:sp>
      <p:sp>
        <p:nvSpPr>
          <p:cNvPr id="10" name="sum-card-1"/>
          <p:cNvSpPr/>
          <p:nvPr/>
        </p:nvSpPr>
        <p:spPr>
          <a:xfrm>
            <a:off x="9491472" y="1737360"/>
            <a:ext cx="22402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</p:spPr>
      </p:sp>
      <p:sp>
        <p:nvSpPr>
          <p:cNvPr id="11" name="sum-val-1"/>
          <p:cNvSpPr txBox="1"/>
          <p:nvPr/>
        </p:nvSpPr>
        <p:spPr>
          <a:xfrm>
            <a:off x="9601200" y="1792224"/>
            <a:ext cx="202082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₹1.75 Cr</a:t>
            </a:r>
            <a:endParaRPr lang="en-US" sz="2200" dirty="0"/>
          </a:p>
        </p:txBody>
      </p:sp>
      <p:sp>
        <p:nvSpPr>
          <p:cNvPr id="12" name="sum-lbl-1"/>
          <p:cNvSpPr txBox="1"/>
          <p:nvPr/>
        </p:nvSpPr>
        <p:spPr>
          <a:xfrm>
            <a:off x="9601200" y="2194560"/>
            <a:ext cx="202082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</a:rPr>
              <a:t>Total profit (net)</a:t>
            </a:r>
            <a:endParaRPr lang="en-US" sz="1200" dirty="0"/>
          </a:p>
        </p:txBody>
      </p:sp>
      <p:sp>
        <p:nvSpPr>
          <p:cNvPr id="13" name="sum-card-2"/>
          <p:cNvSpPr/>
          <p:nvPr/>
        </p:nvSpPr>
        <p:spPr>
          <a:xfrm>
            <a:off x="7086600" y="2560320"/>
            <a:ext cx="22402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</p:spPr>
      </p:sp>
      <p:sp>
        <p:nvSpPr>
          <p:cNvPr id="14" name="sum-val-2"/>
          <p:cNvSpPr txBox="1"/>
          <p:nvPr/>
        </p:nvSpPr>
        <p:spPr>
          <a:xfrm>
            <a:off x="7196328" y="2615184"/>
            <a:ext cx="202082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₹42.0 L</a:t>
            </a:r>
            <a:endParaRPr lang="en-US" sz="2200" dirty="0"/>
          </a:p>
        </p:txBody>
      </p:sp>
      <p:sp>
        <p:nvSpPr>
          <p:cNvPr id="15" name="sum-lbl-2"/>
          <p:cNvSpPr txBox="1"/>
          <p:nvPr/>
        </p:nvSpPr>
        <p:spPr>
          <a:xfrm>
            <a:off x="7196328" y="3017520"/>
            <a:ext cx="202082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</a:rPr>
              <a:t>Total discounts</a:t>
            </a:r>
            <a:endParaRPr lang="en-US" sz="1200" dirty="0"/>
          </a:p>
        </p:txBody>
      </p:sp>
      <p:sp>
        <p:nvSpPr>
          <p:cNvPr id="16" name="sum-card-3"/>
          <p:cNvSpPr/>
          <p:nvPr/>
        </p:nvSpPr>
        <p:spPr>
          <a:xfrm>
            <a:off x="9491472" y="2560320"/>
            <a:ext cx="22402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</p:spPr>
      </p:sp>
      <p:sp>
        <p:nvSpPr>
          <p:cNvPr id="17" name="sum-val-3"/>
          <p:cNvSpPr txBox="1"/>
          <p:nvPr/>
        </p:nvSpPr>
        <p:spPr>
          <a:xfrm>
            <a:off x="9601200" y="2615184"/>
            <a:ext cx="202082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₹15.0 L</a:t>
            </a:r>
            <a:endParaRPr lang="en-US" sz="2200" dirty="0"/>
          </a:p>
        </p:txBody>
      </p:sp>
      <p:sp>
        <p:nvSpPr>
          <p:cNvPr id="18" name="sum-lbl-3"/>
          <p:cNvSpPr txBox="1"/>
          <p:nvPr/>
        </p:nvSpPr>
        <p:spPr>
          <a:xfrm>
            <a:off x="9601200" y="3017520"/>
            <a:ext cx="202082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</a:rPr>
              <a:t>Returns loss</a:t>
            </a:r>
            <a:endParaRPr lang="en-US" sz="1200" dirty="0"/>
          </a:p>
        </p:txBody>
      </p:sp>
      <p:sp>
        <p:nvSpPr>
          <p:cNvPr id="19" name="sum-card-4"/>
          <p:cNvSpPr/>
          <p:nvPr/>
        </p:nvSpPr>
        <p:spPr>
          <a:xfrm>
            <a:off x="7086600" y="3383280"/>
            <a:ext cx="22402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</p:spPr>
      </p:sp>
      <p:sp>
        <p:nvSpPr>
          <p:cNvPr id="20" name="sum-val-4"/>
          <p:cNvSpPr txBox="1"/>
          <p:nvPr/>
        </p:nvSpPr>
        <p:spPr>
          <a:xfrm>
            <a:off x="7196328" y="3438144"/>
            <a:ext cx="202082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₹6.7 L</a:t>
            </a:r>
            <a:endParaRPr lang="en-US" sz="2200" dirty="0"/>
          </a:p>
        </p:txBody>
      </p:sp>
      <p:sp>
        <p:nvSpPr>
          <p:cNvPr id="21" name="sum-lbl-4"/>
          <p:cNvSpPr txBox="1"/>
          <p:nvPr/>
        </p:nvSpPr>
        <p:spPr>
          <a:xfrm>
            <a:off x="7196328" y="3840480"/>
            <a:ext cx="202082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</a:rPr>
              <a:t>Logistics cost</a:t>
            </a:r>
            <a:endParaRPr lang="en-US" sz="1200" dirty="0"/>
          </a:p>
        </p:txBody>
      </p:sp>
      <p:sp>
        <p:nvSpPr>
          <p:cNvPr id="22" name="sum-card-5"/>
          <p:cNvSpPr/>
          <p:nvPr/>
        </p:nvSpPr>
        <p:spPr>
          <a:xfrm>
            <a:off x="9491472" y="3383280"/>
            <a:ext cx="22402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</p:spPr>
      </p:sp>
      <p:sp>
        <p:nvSpPr>
          <p:cNvPr id="23" name="sum-val-5"/>
          <p:cNvSpPr txBox="1"/>
          <p:nvPr/>
        </p:nvSpPr>
        <p:spPr>
          <a:xfrm>
            <a:off x="9601200" y="3438144"/>
            <a:ext cx="202082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₹8.5 L</a:t>
            </a:r>
            <a:endParaRPr lang="en-US" sz="2200" dirty="0"/>
          </a:p>
        </p:txBody>
      </p:sp>
      <p:sp>
        <p:nvSpPr>
          <p:cNvPr id="24" name="sum-lbl-5"/>
          <p:cNvSpPr txBox="1"/>
          <p:nvPr/>
        </p:nvSpPr>
        <p:spPr>
          <a:xfrm>
            <a:off x="9601200" y="3840480"/>
            <a:ext cx="202082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</a:rPr>
              <a:t>Payment fees</a:t>
            </a:r>
            <a:endParaRPr lang="en-US" sz="1200" dirty="0"/>
          </a:p>
        </p:txBody>
      </p:sp>
      <p:sp>
        <p:nvSpPr>
          <p:cNvPr id="25" name="bullets"/>
          <p:cNvSpPr txBox="1"/>
          <p:nvPr/>
        </p:nvSpPr>
        <p:spPr>
          <a:xfrm>
            <a:off x="7086600" y="4343400"/>
            <a:ext cx="4645152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</a:rPr>
              <a:t>Gross margin </a:t>
            </a:r>
            <a:r>
              <a:rPr lang="en-US" sz="1400" b="1" dirty="0">
                <a:solidFill>
                  <a:srgbClr val="1B2A41"/>
                </a:solidFill>
              </a:rPr>
              <a:t>50.9%</a:t>
            </a:r>
            <a:r>
              <a:rPr lang="en-US" sz="1400" dirty="0">
                <a:solidFill>
                  <a:srgbClr val="3A4A5C"/>
                </a:solidFill>
              </a:rPr>
              <a:t> shrinks to net margin </a:t>
            </a:r>
            <a:r>
              <a:rPr lang="en-US" sz="1400" b="1" dirty="0">
                <a:solidFill>
                  <a:srgbClr val="1B2A41"/>
                </a:solidFill>
              </a:rPr>
              <a:t>36.1%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</a:rPr>
              <a:t>Discounts</a:t>
            </a:r>
            <a:r>
              <a:rPr lang="en-US" sz="1400" dirty="0">
                <a:solidFill>
                  <a:srgbClr val="3A4A5C"/>
                </a:solidFill>
              </a:rPr>
              <a:t> alone take </a:t>
            </a:r>
            <a:r>
              <a:rPr lang="en-US" sz="1400" b="1" dirty="0">
                <a:solidFill>
                  <a:srgbClr val="1B2A41"/>
                </a:solidFill>
              </a:rPr>
              <a:t>17%</a:t>
            </a:r>
            <a:r>
              <a:rPr lang="en-US" sz="1400" dirty="0">
                <a:solidFill>
                  <a:srgbClr val="3A4A5C"/>
                </a:solidFill>
              </a:rPr>
              <a:t> of gross profit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</a:rPr>
              <a:t>Fix order: </a:t>
            </a:r>
            <a:r>
              <a:rPr lang="en-US" sz="1400" b="1" dirty="0">
                <a:solidFill>
                  <a:srgbClr val="1B2A41"/>
                </a:solidFill>
              </a:rPr>
              <a:t>1) discounts, 2) returns, 3) payment mix, 4) small-basket shipping</a:t>
            </a:r>
            <a:endParaRPr lang="en-US" sz="1400" dirty="0"/>
          </a:p>
        </p:txBody>
      </p:sp>
      <p:sp>
        <p:nvSpPr>
          <p:cNvPr id="26" name="sowhat-bar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tx1"/>
          </a:solidFill>
        </p:spPr>
      </p:sp>
      <p:sp>
        <p:nvSpPr>
          <p:cNvPr id="27" name="sowhat-text"/>
          <p:cNvSpPr txBox="1"/>
          <p:nvPr/>
        </p:nvSpPr>
        <p:spPr>
          <a:xfrm>
            <a:off x="685800" y="5596128"/>
            <a:ext cx="108356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Sales growth is not the problem; discount control and return reduction will lift profit fastest.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543810" y="2506980"/>
            <a:ext cx="632206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6600" i="1">
                <a:latin typeface="Algerian" panose="04020705040A02060702" charset="0"/>
                <a:cs typeface="Algerian" panose="04020705040A02060702" charset="0"/>
              </a:rPr>
              <a:t>THANK YOU</a:t>
            </a:r>
            <a:endParaRPr lang="en-US" sz="6600" i="1">
              <a:latin typeface="Algerian" panose="04020705040A02060702" charset="0"/>
              <a:cs typeface="Algerian" panose="04020705040A0206070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kage">
  <a:themeElements>
    <a:clrScheme name="Leakage">
      <a:dk1>
        <a:srgbClr val="1B2A41"/>
      </a:dk1>
      <a:lt1>
        <a:srgbClr val="FFFFFF"/>
      </a:lt1>
      <a:dk2>
        <a:srgbClr val="324A5F"/>
      </a:dk2>
      <a:lt2>
        <a:srgbClr val="EEF2F6"/>
      </a:lt2>
      <a:accent1>
        <a:srgbClr val="0E7C86"/>
      </a:accent1>
      <a:accent2>
        <a:srgbClr val="E76F51"/>
      </a:accent2>
      <a:accent3>
        <a:srgbClr val="F4A261"/>
      </a:accent3>
      <a:accent4>
        <a:srgbClr val="264653"/>
      </a:accent4>
      <a:accent5>
        <a:srgbClr val="8D99AE"/>
      </a:accent5>
      <a:accent6>
        <a:srgbClr val="C1121F"/>
      </a:accent6>
      <a:hlink>
        <a:srgbClr val="0E7C86"/>
      </a:hlink>
      <a:folHlink>
        <a:srgbClr val="8D99AE"/>
      </a:folHlink>
    </a:clrScheme>
    <a:fontScheme name="Leaka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akage">
  <a:themeElements>
    <a:clrScheme name="Leakage">
      <a:dk1>
        <a:srgbClr val="1B2A41"/>
      </a:dk1>
      <a:lt1>
        <a:srgbClr val="FFFFFF"/>
      </a:lt1>
      <a:dk2>
        <a:srgbClr val="324A5F"/>
      </a:dk2>
      <a:lt2>
        <a:srgbClr val="EEF2F6"/>
      </a:lt2>
      <a:accent1>
        <a:srgbClr val="0E7C86"/>
      </a:accent1>
      <a:accent2>
        <a:srgbClr val="E76F51"/>
      </a:accent2>
      <a:accent3>
        <a:srgbClr val="F4A261"/>
      </a:accent3>
      <a:accent4>
        <a:srgbClr val="264653"/>
      </a:accent4>
      <a:accent5>
        <a:srgbClr val="8D99AE"/>
      </a:accent5>
      <a:accent6>
        <a:srgbClr val="C1121F"/>
      </a:accent6>
      <a:hlink>
        <a:srgbClr val="0E7C86"/>
      </a:hlink>
      <a:folHlink>
        <a:srgbClr val="8D99AE"/>
      </a:folHlink>
    </a:clrScheme>
    <a:fontScheme name="Leaka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6502</Words>
  <Application>WPS Presentation</Application>
  <PresentationFormat>On-screen Show (16:9)</PresentationFormat>
  <Paragraphs>264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Cambria</vt:lpstr>
      <vt:lpstr>Cambria</vt:lpstr>
      <vt:lpstr>Cambria</vt:lpstr>
      <vt:lpstr>Arial</vt:lpstr>
      <vt:lpstr>Calibri</vt:lpstr>
      <vt:lpstr>Microsoft YaHei</vt:lpstr>
      <vt:lpstr>Arial Unicode MS</vt:lpstr>
      <vt:lpstr>Algerian</vt:lpstr>
      <vt:lpstr>Times New Roman</vt:lpstr>
      <vt:lpstr>Leakage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Marketplace Revenue Leakage &amp; Gap Analysis using SQL</dc:title>
  <dc:creator>Surya</dc:creator>
  <dc:subject>PptxGenJS Presentation</dc:subject>
  <cp:lastModifiedBy>V bala surya Prakash</cp:lastModifiedBy>
  <cp:revision>2</cp:revision>
  <dcterms:created xsi:type="dcterms:W3CDTF">2026-10-17T06:22:00Z</dcterms:created>
  <dcterms:modified xsi:type="dcterms:W3CDTF">2026-10-17T06:32:50Z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A62409DEE0DF4FB095822BFF2FAF4A07_12</vt:lpwstr>
  </property>
</Properties>
</file>